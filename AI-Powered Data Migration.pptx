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147308199" r:id="rId8"/>
    <p:sldId id="2147308196" r:id="rId9"/>
    <p:sldId id="2147308198" r:id="rId10"/>
    <p:sldId id="2147308195" r:id="rId11"/>
  </p:sldIdLst>
  <p:sldSz cx="14630400" cy="8229600"/>
  <p:notesSz cx="10287000" cy="18288000"/>
  <p:embeddedFontLst>
    <p:embeddedFont>
      <p:font typeface="GT Standard L Extended" pitchFamily="2" charset="0"/>
      <p:bold r:id="rId14"/>
    </p:embeddedFont>
    <p:embeddedFont>
      <p:font typeface="Inter" panose="02000503000000020004" pitchFamily="50" charset="0"/>
      <p:regular r:id="rId15"/>
      <p:bold r:id="rId16"/>
      <p:italic r:id="rId17"/>
      <p:boldItalic r:id="rId18"/>
    </p:embeddedFont>
    <p:embeddedFont>
      <p:font typeface="Inter Bold" panose="020B0604020202020204" charset="0"/>
      <p:regular r:id="rId19"/>
      <p:bold r:id="rId20"/>
      <p:italic r:id="rId21"/>
      <p:boldItalic r:id="rId22"/>
    </p:embeddedFont>
    <p:embeddedFont>
      <p:font typeface="Inter Light" panose="02000403000000020004" pitchFamily="50" charset="0"/>
      <p:regular r:id="rId23"/>
      <p:italic r:id="rId24"/>
    </p:embeddedFont>
    <p:embeddedFont>
      <p:font typeface="Inter Medium" panose="02000603000000020004" pitchFamily="50" charset="0"/>
      <p:regular r:id="rId25"/>
      <p:italic r:id="rId26"/>
    </p:embeddedFont>
    <p:embeddedFont>
      <p:font typeface="Inter Regular" panose="020B0604020202020204" charset="0"/>
      <p:regular r:id="rId27"/>
      <p:bold r:id="rId28"/>
      <p:italic r:id="rId29"/>
      <p:boldItalic r:id="rId30"/>
    </p:embeddedFont>
    <p:embeddedFont>
      <p:font typeface="Inter SemiBold" panose="02000703000000020004" pitchFamily="50" charset="0"/>
      <p:regular r:id="rId31"/>
      <p:bold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D6D"/>
    <a:srgbClr val="B4B0AC"/>
    <a:srgbClr val="545454"/>
    <a:srgbClr val="F6F3F0"/>
    <a:srgbClr val="E4E4E4"/>
    <a:srgbClr val="005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22" autoAdjust="0"/>
  </p:normalViewPr>
  <p:slideViewPr>
    <p:cSldViewPr snapToGrid="0">
      <p:cViewPr varScale="1">
        <p:scale>
          <a:sx n="62" d="100"/>
          <a:sy n="62" d="100"/>
        </p:scale>
        <p:origin x="3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657DA5-5C22-A353-A65D-369446F87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2189D-F3FF-A988-769A-E7A3CB3608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A25DE-A063-4378-A640-4BC83FB26CA8}" type="datetimeFigureOut">
              <a:rPr lang="en-US" smtClean="0">
                <a:latin typeface="Inter" panose="02000503000000020004" pitchFamily="50" charset="0"/>
              </a:rPr>
              <a:t>9/23/2026</a:t>
            </a:fld>
            <a:endParaRPr lang="en-US">
              <a:latin typeface="Inter" panose="0200050300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2170-6562-13C1-D1D5-286367C321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CDAC3-E48C-8609-85D2-09985FEF5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69C77-B4AD-470F-9F54-5C3D80FAC420}" type="slidenum">
              <a:rPr lang="en-US" smtClean="0">
                <a:latin typeface="Inter" panose="02000503000000020004" pitchFamily="50" charset="0"/>
              </a:rPr>
              <a:t>‹#›</a:t>
            </a:fld>
            <a:endParaRPr lang="en-US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115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5760" userDrawn="1">
          <p15:clr>
            <a:srgbClr val="F26B43"/>
          </p15:clr>
        </p15:guide>
        <p15:guide id="2" pos="32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4368073D-F6CD-433D-989C-9BCED54B3B21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3EA93470-45FA-43A3-A94A-764F2952A3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6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960" kern="1200">
        <a:solidFill>
          <a:schemeClr val="tx1"/>
        </a:solidFill>
        <a:latin typeface="Inter Medium" panose="02000603000000020004" pitchFamily="50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2D6D-F0CB-29CB-63AD-E4705EE8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4F875-AC69-5CAE-DC1C-5766FE967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CB900-CC65-64B3-E781-54F7C71E9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3F11D-68BD-4DFF-4AC7-01B7FB018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31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094202A-ADEE-8CFF-1CA7-B4EBFBE99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" y="5447346"/>
            <a:ext cx="3618548" cy="16764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Union" descr="preencoded.png">
            <a:extLst>
              <a:ext uri="{FF2B5EF4-FFF2-40B4-BE49-F238E27FC236}">
                <a16:creationId xmlns:a16="http://schemas.microsoft.com/office/drawing/2014/main" id="{6B75D626-922D-0E0E-7BD5-82111694B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704320" y="5496587"/>
            <a:ext cx="2682240" cy="434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9A6C8A-C16D-BDE3-BAD8-805378B4A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" y="5772149"/>
            <a:ext cx="8500926" cy="9779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CB22324-510A-38FD-07DF-89A2BB28584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34365" y="6934882"/>
            <a:ext cx="3618548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6BDCAC8-E137-0FB1-95C8-BC4041249C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243840"/>
            <a:ext cx="14097000" cy="4815840"/>
          </a:xfrm>
          <a:prstGeom prst="roundRect">
            <a:avLst>
              <a:gd name="adj" fmla="val 2980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D44D6-10EB-EF61-89EE-C465B190352E}"/>
              </a:ext>
            </a:extLst>
          </p:cNvPr>
          <p:cNvSpPr txBox="1"/>
          <p:nvPr userDrawn="1"/>
        </p:nvSpPr>
        <p:spPr>
          <a:xfrm>
            <a:off x="634365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1D7A58-C394-D298-3928-DDB30411F308}"/>
              </a:ext>
            </a:extLst>
          </p:cNvPr>
          <p:cNvSpPr txBox="1">
            <a:spLocks/>
          </p:cNvSpPr>
          <p:nvPr userDrawn="1"/>
        </p:nvSpPr>
        <p:spPr>
          <a:xfrm>
            <a:off x="63474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35639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FE166FA-3785-7D1B-CA27-32A8C6AA5A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243840"/>
            <a:ext cx="14097000" cy="4815840"/>
          </a:xfrm>
          <a:prstGeom prst="roundRect">
            <a:avLst>
              <a:gd name="adj" fmla="val 2980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094202A-ADEE-8CFF-1CA7-B4EBFBE99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" y="5447346"/>
            <a:ext cx="3618548" cy="16764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Union" descr="preencoded.png">
            <a:extLst>
              <a:ext uri="{FF2B5EF4-FFF2-40B4-BE49-F238E27FC236}">
                <a16:creationId xmlns:a16="http://schemas.microsoft.com/office/drawing/2014/main" id="{6B75D626-922D-0E0E-7BD5-82111694B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704320" y="5496587"/>
            <a:ext cx="2682240" cy="434347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4A037E8E-E172-D17B-2149-6A94B7D28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" y="5772149"/>
            <a:ext cx="8500926" cy="9779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bg1"/>
                </a:solidFill>
                <a:latin typeface="GT Standard L Extended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02A3888-58A2-A135-1883-E4B3EEEDACE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34365" y="6934882"/>
            <a:ext cx="3618548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bg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B744B-193D-6E0B-E7D5-34E3C8AFA502}"/>
              </a:ext>
            </a:extLst>
          </p:cNvPr>
          <p:cNvSpPr txBox="1"/>
          <p:nvPr userDrawn="1"/>
        </p:nvSpPr>
        <p:spPr>
          <a:xfrm>
            <a:off x="634365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89FB58-EA76-5447-7437-9269C4C95915}"/>
              </a:ext>
            </a:extLst>
          </p:cNvPr>
          <p:cNvSpPr txBox="1">
            <a:spLocks/>
          </p:cNvSpPr>
          <p:nvPr userDrawn="1"/>
        </p:nvSpPr>
        <p:spPr>
          <a:xfrm>
            <a:off x="63474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50032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2" name="Frame 15529" descr="preencoded.png">
            <a:extLst>
              <a:ext uri="{FF2B5EF4-FFF2-40B4-BE49-F238E27FC236}">
                <a16:creationId xmlns:a16="http://schemas.microsoft.com/office/drawing/2014/main" id="{1EF2DDB8-8571-93E4-C67A-35640A82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3840" y="243840"/>
            <a:ext cx="14142720" cy="47396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15" name="lookmomnoagency_httpss.mj.runJIcAb0P4040_Ultra-real_cinematic_p_638bfe43-65b2-4354-845b-4351f8df7907" descr="preencoded.png">
            <a:extLst>
              <a:ext uri="{FF2B5EF4-FFF2-40B4-BE49-F238E27FC236}">
                <a16:creationId xmlns:a16="http://schemas.microsoft.com/office/drawing/2014/main" id="{75169228-DC09-412D-D6F7-167D9FF75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3840" y="243840"/>
            <a:ext cx="14142720" cy="481584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0342C94D-B005-C627-CC70-486D6842A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2733" y="5447346"/>
            <a:ext cx="7353431" cy="16764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Union" descr="preencoded.png">
            <a:extLst>
              <a:ext uri="{FF2B5EF4-FFF2-40B4-BE49-F238E27FC236}">
                <a16:creationId xmlns:a16="http://schemas.microsoft.com/office/drawing/2014/main" id="{4B2C8058-2A52-FBD2-A88A-2B552585CE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641" y="5496587"/>
            <a:ext cx="2682240" cy="43434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B5FEA5F-CB2C-3FF5-0223-355E67B8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2734" y="5772149"/>
            <a:ext cx="7353431" cy="9779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264E8B-C17A-16FA-16AB-17DE70932CB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969690" y="6934882"/>
            <a:ext cx="3618548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Union" descr="preencoded.png">
            <a:extLst>
              <a:ext uri="{FF2B5EF4-FFF2-40B4-BE49-F238E27FC236}">
                <a16:creationId xmlns:a16="http://schemas.microsoft.com/office/drawing/2014/main" id="{6EFE4B1B-FBEC-0DBB-F10D-1A7A97DC17F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43840" y="746760"/>
            <a:ext cx="14142720" cy="38252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006E1-F854-BAE6-A4A2-9D3947AA8039}"/>
              </a:ext>
            </a:extLst>
          </p:cNvPr>
          <p:cNvSpPr txBox="1"/>
          <p:nvPr userDrawn="1"/>
        </p:nvSpPr>
        <p:spPr>
          <a:xfrm>
            <a:off x="5968365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4B61FB-43AA-F7C6-9DBE-87E8C3498914}"/>
              </a:ext>
            </a:extLst>
          </p:cNvPr>
          <p:cNvSpPr txBox="1">
            <a:spLocks/>
          </p:cNvSpPr>
          <p:nvPr userDrawn="1"/>
        </p:nvSpPr>
        <p:spPr>
          <a:xfrm>
            <a:off x="596874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4029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6C9E5-50FF-1198-36CE-8793878A64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9122" y="618411"/>
            <a:ext cx="6321278" cy="76111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C7BB518-013B-58B6-40AD-19FEB608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64" y="3181350"/>
            <a:ext cx="11024236" cy="13906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8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63D07A-81F1-36DC-EA6A-646757535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4078" y="4864415"/>
            <a:ext cx="3760471" cy="1490665"/>
          </a:xfrm>
          <a:prstGeom prst="rect">
            <a:avLst/>
          </a:prstGeom>
        </p:spPr>
        <p:txBody>
          <a:bodyPr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b="0" cap="none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1D1B2-1DC3-890E-96BC-72E7F3451CCA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3050-BD33-7A00-EE49-7F6BC7D27001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405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5DE322-BB62-1F07-1CDA-135ED5F4EFDE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577FD0-9948-DA89-6DB8-928EE2C02D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859780" cy="77724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8" y="2506980"/>
            <a:ext cx="13689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84E7C-8DF7-9286-1F6A-E0EDDF612E0D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9DC9-2842-272D-FE94-51D6897B7218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6" name="Union" descr="preencoded.png">
            <a:extLst>
              <a:ext uri="{FF2B5EF4-FFF2-40B4-BE49-F238E27FC236}">
                <a16:creationId xmlns:a16="http://schemas.microsoft.com/office/drawing/2014/main" id="{2B2237AB-9675-5704-5381-9A5B56F644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4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guide (No Descrip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5DE322-BB62-1F07-1CDA-135ED5F4EFDE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8" y="2506980"/>
            <a:ext cx="5307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84E7C-8DF7-9286-1F6A-E0EDDF612E0D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9DC9-2842-272D-FE94-51D6897B7218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6" name="Union" descr="preencoded.png">
            <a:extLst>
              <a:ext uri="{FF2B5EF4-FFF2-40B4-BE49-F238E27FC236}">
                <a16:creationId xmlns:a16="http://schemas.microsoft.com/office/drawing/2014/main" id="{2B2237AB-9675-5704-5381-9A5B56F64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7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935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rima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05150" y="2506979"/>
            <a:ext cx="11068050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974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7" y="2506979"/>
            <a:ext cx="11022013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278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B9C8783-1EE1-5F05-94F0-020AC127930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13088" y="2506979"/>
            <a:ext cx="5283489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C207ECF-D4C3-643D-CB6A-041FFB70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C006B6-6F06-D002-5779-598B7A38284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856663" y="2506978"/>
            <a:ext cx="506530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5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5150" y="2506978"/>
            <a:ext cx="11068048" cy="51625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 typeface="Arial" pitchFamily="34" charset="0"/>
              <a:buChar char="•"/>
              <a:defRPr sz="1600"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sz="1600"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E9DCC20-00EA-22DD-2AE0-CB3AE03BE68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73ADA15-B0A6-A9E1-1441-0E6F1682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9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5717FA4-86CE-556E-68FB-95C761BEC1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8" y="2506979"/>
            <a:ext cx="6831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3CCBB92-4E2E-CA56-141C-71DDE9C9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02B511-3FEB-1B8B-7719-09807E1FF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8343900" y="2053908"/>
            <a:ext cx="6286500" cy="5485475"/>
          </a:xfrm>
          <a:prstGeom prst="rect">
            <a:avLst/>
          </a:prstGeom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E713CD5E-96D2-F3B4-7945-151C1A4F88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39200" y="2508987"/>
            <a:ext cx="5524500" cy="433578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21994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655C0-EAC8-C1F6-4E1E-A95627EE0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8343900" y="2053908"/>
            <a:ext cx="6286500" cy="54854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A965AE0-60E2-C612-1BE0-C472996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5DE58E-558F-F5EC-1082-9B720020266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667521" y="2506979"/>
            <a:ext cx="3986784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B87AB6-AE03-F48C-7DF9-C5E130FC55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8" y="2506979"/>
            <a:ext cx="3986784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77A56BE-E30D-A604-6EC0-1BA1C7B58F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39200" y="2508987"/>
            <a:ext cx="5524500" cy="433578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0185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3A8567-14EC-C957-B8D3-E24E11570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62" b="4989"/>
          <a:stretch>
            <a:fillRect/>
          </a:stretch>
        </p:blipFill>
        <p:spPr>
          <a:xfrm>
            <a:off x="5229001" y="174069"/>
            <a:ext cx="9401400" cy="8055531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7B1E6F2-2C2C-C9A9-5AB8-828355364A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1700" y="888296"/>
            <a:ext cx="8382000" cy="6781234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2AD280C-FC90-5C16-7F3E-4E787A928E0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FF1056-2A2E-EAB8-F36F-EBD7E5F8C0F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84188" y="2921169"/>
            <a:ext cx="4340904" cy="474836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540E6F3E-0F98-698F-5249-2672EA9A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8"/>
            <a:ext cx="5307013" cy="16152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472F4-F461-80E0-0FB3-EFCB9B5CC08D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7D6D-506A-74EA-66C7-80F4746277AA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4338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AD2B2-95E0-8691-E903-8A9026CF8261}"/>
              </a:ext>
            </a:extLst>
          </p:cNvPr>
          <p:cNvSpPr/>
          <p:nvPr userDrawn="1"/>
        </p:nvSpPr>
        <p:spPr>
          <a:xfrm>
            <a:off x="0" y="609600"/>
            <a:ext cx="14630400" cy="7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0455-28DA-FCFA-8ED8-A428ECF25B46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053EBC-3E3E-5CCF-5A5C-C2B528F8E713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72813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B2385-4042-07C0-6BA0-6E264BA5CB68}"/>
              </a:ext>
            </a:extLst>
          </p:cNvPr>
          <p:cNvSpPr/>
          <p:nvPr userDrawn="1"/>
        </p:nvSpPr>
        <p:spPr>
          <a:xfrm>
            <a:off x="0" y="595993"/>
            <a:ext cx="14630400" cy="7633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4187" y="2506979"/>
            <a:ext cx="11022013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F00A7-BEB6-EC4D-515F-8796DA7764E1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21A3-0CD0-FAEA-5FA7-F851D1A40F17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87835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656793-F272-E05F-7FDB-6FC60AE78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9600"/>
            <a:ext cx="14630400" cy="7620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740A865-2EAE-D2C5-9D67-0453F02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150" y="2699596"/>
            <a:ext cx="11068048" cy="3343274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 algn="l">
              <a:defRPr lang="en-US" sz="5000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2CCEFD-F919-42FA-0DD8-3DB039A268F3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HeaderMasthead" descr="preencoded.png">
            <a:extLst>
              <a:ext uri="{FF2B5EF4-FFF2-40B4-BE49-F238E27FC236}">
                <a16:creationId xmlns:a16="http://schemas.microsoft.com/office/drawing/2014/main" id="{93C7ACA0-9850-735F-DDA2-7E3D6AF178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609600"/>
            <a:ext cx="14630400" cy="76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BDAE8-E8F2-0C57-3991-61B5388D5967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2364276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D6C4FC-7347-DEA0-51A8-878E036B731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81699" y="2456954"/>
            <a:ext cx="7408297" cy="509055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186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84186" y="6929040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4187" y="7257107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4186" y="2506980"/>
            <a:ext cx="3931920" cy="4114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8E15AC9-7292-3D13-6C73-282E69EE8FE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989638" y="2506980"/>
            <a:ext cx="5516562" cy="411480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569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543854" y="2985692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543855" y="3281103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4186" y="2856878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D811A-C99D-3B7A-BCC3-66DA844F1C8B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543854" y="5407568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A747F1-959A-3806-A11E-FFACEFB693EF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2543855" y="5702979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51B0D53B-7E9B-3DC3-BA87-003824F65D9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4186" y="5278754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06E116-3C8D-CF15-BA0D-FE1D9DF8D86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610724" y="2985692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EF596F-37D3-8C56-AEC3-A941B57F4B8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9610725" y="3281103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5D416AB-5AB8-3255-9B13-3BFE55B1067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551056" y="2856878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BFEF732-87F6-4DAB-0C27-9A712527F2FB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610724" y="5407568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8E4127-A4BC-BD25-7D63-1979A3E79EF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9610725" y="5702979"/>
            <a:ext cx="4562475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5C05823-0C0C-A242-FF86-E466B32E921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551056" y="5278754"/>
            <a:ext cx="1828800" cy="18288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601515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4630400" cy="82296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966E7D02-A59E-D77B-34F9-177B59C8C7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9" name="Text Box 115">
            <a:extLst>
              <a:ext uri="{FF2B5EF4-FFF2-40B4-BE49-F238E27FC236}">
                <a16:creationId xmlns:a16="http://schemas.microsoft.com/office/drawing/2014/main" id="{C625C1F0-127F-73C3-7ADA-A6081E5B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10" name="Union" descr="preencoded.png">
            <a:extLst>
              <a:ext uri="{FF2B5EF4-FFF2-40B4-BE49-F238E27FC236}">
                <a16:creationId xmlns:a16="http://schemas.microsoft.com/office/drawing/2014/main" id="{2E0A7C26-1063-DA8C-412A-967875A0E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  <p:sp>
        <p:nvSpPr>
          <p:cNvPr id="11" name="COMPANY OVERVIEW">
            <a:extLst>
              <a:ext uri="{FF2B5EF4-FFF2-40B4-BE49-F238E27FC236}">
                <a16:creationId xmlns:a16="http://schemas.microsoft.com/office/drawing/2014/main" id="{460D8598-B6F3-061C-1E91-55DD0B252539}"/>
              </a:ext>
            </a:extLst>
          </p:cNvPr>
          <p:cNvSpPr/>
          <p:nvPr userDrawn="1"/>
        </p:nvSpPr>
        <p:spPr>
          <a:xfrm>
            <a:off x="4741071" y="243840"/>
            <a:ext cx="5150644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900" b="1" kern="0" cap="all" spc="168" baseline="0" dirty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PRESENTATION DESCRIPTION</a:t>
            </a: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18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Whit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609600"/>
            <a:ext cx="14630400" cy="76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66451" y="888296"/>
            <a:ext cx="4358641" cy="20133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7010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5F7739-5F3D-DF4D-BE90-E2362F48AC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105150" y="2249752"/>
            <a:ext cx="11068048" cy="26557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988E8C-D038-1253-4258-6D8D58C445F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491036" y="5532949"/>
            <a:ext cx="7205663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6F164B-E08C-29C0-7C1E-2FD6BCE1AD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1037" y="5886416"/>
            <a:ext cx="7205663" cy="181534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C4B69D7-624C-1666-EA6E-6FA241A2489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05149" y="5251736"/>
            <a:ext cx="1114425" cy="1114425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Graphic 14">
            <a:extLst>
              <a:ext uri="{FF2B5EF4-FFF2-40B4-BE49-F238E27FC236}">
                <a16:creationId xmlns:a16="http://schemas.microsoft.com/office/drawing/2014/main" id="{289971B2-6DA5-08CA-F7E5-1172BD30B562}"/>
              </a:ext>
            </a:extLst>
          </p:cNvPr>
          <p:cNvSpPr/>
          <p:nvPr/>
        </p:nvSpPr>
        <p:spPr>
          <a:xfrm>
            <a:off x="1328946" y="2405533"/>
            <a:ext cx="1212117" cy="965628"/>
          </a:xfrm>
          <a:custGeom>
            <a:avLst/>
            <a:gdLst>
              <a:gd name="csX0" fmla="*/ 436380 w 1212117"/>
              <a:gd name="csY0" fmla="*/ 528071 h 965628"/>
              <a:gd name="csX1" fmla="*/ 187312 w 1212117"/>
              <a:gd name="csY1" fmla="*/ 528071 h 965628"/>
              <a:gd name="csX2" fmla="*/ 187312 w 1212117"/>
              <a:gd name="csY2" fmla="*/ 409448 h 965628"/>
              <a:gd name="csX3" fmla="*/ 425638 w 1212117"/>
              <a:gd name="csY3" fmla="*/ 172264 h 965628"/>
              <a:gd name="csX4" fmla="*/ 433264 w 1212117"/>
              <a:gd name="csY4" fmla="*/ 172213 h 965628"/>
              <a:gd name="csX5" fmla="*/ 483088 w 1212117"/>
              <a:gd name="csY5" fmla="*/ 172213 h 965628"/>
              <a:gd name="csX6" fmla="*/ 483088 w 1212117"/>
              <a:gd name="csY6" fmla="*/ 13007 h 965628"/>
              <a:gd name="csX7" fmla="*/ 427044 w 1212117"/>
              <a:gd name="csY7" fmla="*/ 13007 h 965628"/>
              <a:gd name="csX8" fmla="*/ 427044 w 1212117"/>
              <a:gd name="csY8" fmla="*/ 0 h 965628"/>
              <a:gd name="csX9" fmla="*/ 496060 w 1212117"/>
              <a:gd name="csY9" fmla="*/ 0 h 965628"/>
              <a:gd name="csX10" fmla="*/ 496060 w 1212117"/>
              <a:gd name="csY10" fmla="*/ 185220 h 965628"/>
              <a:gd name="csX11" fmla="*/ 433264 w 1212117"/>
              <a:gd name="csY11" fmla="*/ 185220 h 965628"/>
              <a:gd name="csX12" fmla="*/ 257797 w 1212117"/>
              <a:gd name="csY12" fmla="*/ 240893 h 965628"/>
              <a:gd name="csX13" fmla="*/ 200284 w 1212117"/>
              <a:gd name="csY13" fmla="*/ 409448 h 965628"/>
              <a:gd name="csX14" fmla="*/ 200284 w 1212117"/>
              <a:gd name="csY14" fmla="*/ 515065 h 965628"/>
              <a:gd name="csX15" fmla="*/ 449352 w 1212117"/>
              <a:gd name="csY15" fmla="*/ 515065 h 965628"/>
              <a:gd name="csX16" fmla="*/ 449352 w 1212117"/>
              <a:gd name="csY16" fmla="*/ 965628 h 965628"/>
              <a:gd name="csX17" fmla="*/ 0 w 1212117"/>
              <a:gd name="csY17" fmla="*/ 965628 h 965628"/>
              <a:gd name="csX18" fmla="*/ 0 w 1212117"/>
              <a:gd name="csY18" fmla="*/ 418822 h 965628"/>
              <a:gd name="csX19" fmla="*/ 106273 w 1212117"/>
              <a:gd name="csY19" fmla="*/ 113340 h 965628"/>
              <a:gd name="csX20" fmla="*/ 106337 w 1212117"/>
              <a:gd name="csY20" fmla="*/ 113263 h 965628"/>
              <a:gd name="csX21" fmla="*/ 106400 w 1212117"/>
              <a:gd name="csY21" fmla="*/ 113200 h 965628"/>
              <a:gd name="csX22" fmla="*/ 427044 w 1212117"/>
              <a:gd name="csY22" fmla="*/ 0 h 965628"/>
              <a:gd name="csX23" fmla="*/ 427044 w 1212117"/>
              <a:gd name="csY23" fmla="*/ 13007 h 965628"/>
              <a:gd name="csX24" fmla="*/ 414300 w 1212117"/>
              <a:gd name="csY24" fmla="*/ 13108 h 965628"/>
              <a:gd name="csX25" fmla="*/ 115711 w 1212117"/>
              <a:gd name="csY25" fmla="*/ 122256 h 965628"/>
              <a:gd name="csX26" fmla="*/ 109390 w 1212117"/>
              <a:gd name="csY26" fmla="*/ 129166 h 965628"/>
              <a:gd name="csX27" fmla="*/ 12972 w 1212117"/>
              <a:gd name="csY27" fmla="*/ 418822 h 965628"/>
              <a:gd name="csX28" fmla="*/ 12972 w 1212117"/>
              <a:gd name="csY28" fmla="*/ 952622 h 965628"/>
              <a:gd name="csX29" fmla="*/ 436380 w 1212117"/>
              <a:gd name="csY29" fmla="*/ 952622 h 965628"/>
              <a:gd name="csX30" fmla="*/ 436380 w 1212117"/>
              <a:gd name="csY30" fmla="*/ 528071 h 965628"/>
              <a:gd name="csX31" fmla="*/ 1152449 w 1212117"/>
              <a:gd name="csY31" fmla="*/ 528071 h 965628"/>
              <a:gd name="csX32" fmla="*/ 903380 w 1212117"/>
              <a:gd name="csY32" fmla="*/ 528071 h 965628"/>
              <a:gd name="csX33" fmla="*/ 903380 w 1212117"/>
              <a:gd name="csY33" fmla="*/ 409448 h 965628"/>
              <a:gd name="csX34" fmla="*/ 1141707 w 1212117"/>
              <a:gd name="csY34" fmla="*/ 172264 h 965628"/>
              <a:gd name="csX35" fmla="*/ 1149333 w 1212117"/>
              <a:gd name="csY35" fmla="*/ 172213 h 965628"/>
              <a:gd name="csX36" fmla="*/ 1199145 w 1212117"/>
              <a:gd name="csY36" fmla="*/ 172213 h 965628"/>
              <a:gd name="csX37" fmla="*/ 1199145 w 1212117"/>
              <a:gd name="csY37" fmla="*/ 13007 h 965628"/>
              <a:gd name="csX38" fmla="*/ 1143113 w 1212117"/>
              <a:gd name="csY38" fmla="*/ 13007 h 965628"/>
              <a:gd name="csX39" fmla="*/ 1143113 w 1212117"/>
              <a:gd name="csY39" fmla="*/ 0 h 965628"/>
              <a:gd name="csX40" fmla="*/ 1212117 w 1212117"/>
              <a:gd name="csY40" fmla="*/ 0 h 965628"/>
              <a:gd name="csX41" fmla="*/ 1212117 w 1212117"/>
              <a:gd name="csY41" fmla="*/ 185220 h 965628"/>
              <a:gd name="csX42" fmla="*/ 1149333 w 1212117"/>
              <a:gd name="csY42" fmla="*/ 185220 h 965628"/>
              <a:gd name="csX43" fmla="*/ 973866 w 1212117"/>
              <a:gd name="csY43" fmla="*/ 240893 h 965628"/>
              <a:gd name="csX44" fmla="*/ 916352 w 1212117"/>
              <a:gd name="csY44" fmla="*/ 409448 h 965628"/>
              <a:gd name="csX45" fmla="*/ 916352 w 1212117"/>
              <a:gd name="csY45" fmla="*/ 515065 h 965628"/>
              <a:gd name="csX46" fmla="*/ 1165421 w 1212117"/>
              <a:gd name="csY46" fmla="*/ 515065 h 965628"/>
              <a:gd name="csX47" fmla="*/ 1165421 w 1212117"/>
              <a:gd name="csY47" fmla="*/ 965628 h 965628"/>
              <a:gd name="csX48" fmla="*/ 716069 w 1212117"/>
              <a:gd name="csY48" fmla="*/ 965628 h 965628"/>
              <a:gd name="csX49" fmla="*/ 716069 w 1212117"/>
              <a:gd name="csY49" fmla="*/ 418822 h 965628"/>
              <a:gd name="csX50" fmla="*/ 822342 w 1212117"/>
              <a:gd name="csY50" fmla="*/ 113340 h 965628"/>
              <a:gd name="csX51" fmla="*/ 822406 w 1212117"/>
              <a:gd name="csY51" fmla="*/ 113263 h 965628"/>
              <a:gd name="csX52" fmla="*/ 822468 w 1212117"/>
              <a:gd name="csY52" fmla="*/ 113200 h 965628"/>
              <a:gd name="csX53" fmla="*/ 1143113 w 1212117"/>
              <a:gd name="csY53" fmla="*/ 0 h 965628"/>
              <a:gd name="csX54" fmla="*/ 1143113 w 1212117"/>
              <a:gd name="csY54" fmla="*/ 13007 h 965628"/>
              <a:gd name="csX55" fmla="*/ 1130369 w 1212117"/>
              <a:gd name="csY55" fmla="*/ 13108 h 965628"/>
              <a:gd name="csX56" fmla="*/ 831780 w 1212117"/>
              <a:gd name="csY56" fmla="*/ 122256 h 965628"/>
              <a:gd name="csX57" fmla="*/ 825458 w 1212117"/>
              <a:gd name="csY57" fmla="*/ 129166 h 965628"/>
              <a:gd name="csX58" fmla="*/ 729041 w 1212117"/>
              <a:gd name="csY58" fmla="*/ 418822 h 965628"/>
              <a:gd name="csX59" fmla="*/ 729041 w 1212117"/>
              <a:gd name="csY59" fmla="*/ 952622 h 965628"/>
              <a:gd name="csX60" fmla="*/ 1152449 w 1212117"/>
              <a:gd name="csY60" fmla="*/ 952622 h 965628"/>
              <a:gd name="csX61" fmla="*/ 1152449 w 1212117"/>
              <a:gd name="csY61" fmla="*/ 528071 h 965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1212117" h="965628">
                <a:moveTo>
                  <a:pt x="436380" y="528071"/>
                </a:moveTo>
                <a:lnTo>
                  <a:pt x="187312" y="528071"/>
                </a:lnTo>
                <a:lnTo>
                  <a:pt x="187312" y="409448"/>
                </a:lnTo>
                <a:cubicBezTo>
                  <a:pt x="187312" y="253760"/>
                  <a:pt x="266758" y="174698"/>
                  <a:pt x="425638" y="172264"/>
                </a:cubicBezTo>
                <a:lnTo>
                  <a:pt x="433264" y="172213"/>
                </a:lnTo>
                <a:lnTo>
                  <a:pt x="483088" y="172213"/>
                </a:lnTo>
                <a:lnTo>
                  <a:pt x="483088" y="13007"/>
                </a:lnTo>
                <a:lnTo>
                  <a:pt x="427044" y="13007"/>
                </a:lnTo>
                <a:lnTo>
                  <a:pt x="427044" y="0"/>
                </a:lnTo>
                <a:lnTo>
                  <a:pt x="496060" y="0"/>
                </a:lnTo>
                <a:lnTo>
                  <a:pt x="496060" y="185220"/>
                </a:lnTo>
                <a:lnTo>
                  <a:pt x="433264" y="185220"/>
                </a:lnTo>
                <a:cubicBezTo>
                  <a:pt x="353159" y="185221"/>
                  <a:pt x="295484" y="204541"/>
                  <a:pt x="257797" y="240893"/>
                </a:cubicBezTo>
                <a:cubicBezTo>
                  <a:pt x="220205" y="277154"/>
                  <a:pt x="200284" y="332505"/>
                  <a:pt x="200284" y="409448"/>
                </a:cubicBezTo>
                <a:lnTo>
                  <a:pt x="200284" y="515065"/>
                </a:lnTo>
                <a:lnTo>
                  <a:pt x="449352" y="515065"/>
                </a:lnTo>
                <a:lnTo>
                  <a:pt x="449352" y="965628"/>
                </a:lnTo>
                <a:lnTo>
                  <a:pt x="0" y="965628"/>
                </a:lnTo>
                <a:lnTo>
                  <a:pt x="0" y="418822"/>
                </a:lnTo>
                <a:cubicBezTo>
                  <a:pt x="0" y="291498"/>
                  <a:pt x="34984" y="189152"/>
                  <a:pt x="106273" y="113340"/>
                </a:cubicBezTo>
                <a:lnTo>
                  <a:pt x="106337" y="113263"/>
                </a:lnTo>
                <a:lnTo>
                  <a:pt x="106400" y="113200"/>
                </a:lnTo>
                <a:cubicBezTo>
                  <a:pt x="180176" y="37051"/>
                  <a:pt x="287829" y="0"/>
                  <a:pt x="427044" y="0"/>
                </a:cubicBezTo>
                <a:lnTo>
                  <a:pt x="427044" y="13007"/>
                </a:lnTo>
                <a:lnTo>
                  <a:pt x="414300" y="13108"/>
                </a:lnTo>
                <a:cubicBezTo>
                  <a:pt x="283605" y="15313"/>
                  <a:pt x="184076" y="51696"/>
                  <a:pt x="115711" y="122256"/>
                </a:cubicBezTo>
                <a:lnTo>
                  <a:pt x="109390" y="129166"/>
                </a:lnTo>
                <a:cubicBezTo>
                  <a:pt x="45110" y="201304"/>
                  <a:pt x="12972" y="297859"/>
                  <a:pt x="12972" y="418822"/>
                </a:cubicBezTo>
                <a:lnTo>
                  <a:pt x="12972" y="952622"/>
                </a:lnTo>
                <a:lnTo>
                  <a:pt x="436380" y="952622"/>
                </a:lnTo>
                <a:lnTo>
                  <a:pt x="436380" y="528071"/>
                </a:lnTo>
                <a:close/>
                <a:moveTo>
                  <a:pt x="1152449" y="528071"/>
                </a:moveTo>
                <a:lnTo>
                  <a:pt x="903380" y="528071"/>
                </a:lnTo>
                <a:lnTo>
                  <a:pt x="903380" y="409448"/>
                </a:lnTo>
                <a:cubicBezTo>
                  <a:pt x="903381" y="253759"/>
                  <a:pt x="982824" y="174697"/>
                  <a:pt x="1141707" y="172264"/>
                </a:cubicBezTo>
                <a:lnTo>
                  <a:pt x="1149333" y="172213"/>
                </a:lnTo>
                <a:lnTo>
                  <a:pt x="1199145" y="172213"/>
                </a:lnTo>
                <a:lnTo>
                  <a:pt x="1199145" y="13007"/>
                </a:lnTo>
                <a:lnTo>
                  <a:pt x="1143113" y="13007"/>
                </a:lnTo>
                <a:lnTo>
                  <a:pt x="1143113" y="0"/>
                </a:lnTo>
                <a:lnTo>
                  <a:pt x="1212117" y="0"/>
                </a:lnTo>
                <a:lnTo>
                  <a:pt x="1212117" y="185220"/>
                </a:lnTo>
                <a:lnTo>
                  <a:pt x="1149333" y="185220"/>
                </a:lnTo>
                <a:cubicBezTo>
                  <a:pt x="1069227" y="185221"/>
                  <a:pt x="1011554" y="204541"/>
                  <a:pt x="973866" y="240893"/>
                </a:cubicBezTo>
                <a:cubicBezTo>
                  <a:pt x="936273" y="277154"/>
                  <a:pt x="916353" y="332504"/>
                  <a:pt x="916352" y="409448"/>
                </a:cubicBezTo>
                <a:lnTo>
                  <a:pt x="916352" y="515065"/>
                </a:lnTo>
                <a:lnTo>
                  <a:pt x="1165421" y="515065"/>
                </a:lnTo>
                <a:lnTo>
                  <a:pt x="1165421" y="965628"/>
                </a:lnTo>
                <a:lnTo>
                  <a:pt x="716069" y="965628"/>
                </a:lnTo>
                <a:lnTo>
                  <a:pt x="716069" y="418822"/>
                </a:lnTo>
                <a:cubicBezTo>
                  <a:pt x="716069" y="291498"/>
                  <a:pt x="751052" y="189152"/>
                  <a:pt x="822342" y="113340"/>
                </a:cubicBezTo>
                <a:lnTo>
                  <a:pt x="822406" y="113263"/>
                </a:lnTo>
                <a:lnTo>
                  <a:pt x="822468" y="113200"/>
                </a:lnTo>
                <a:cubicBezTo>
                  <a:pt x="896245" y="37051"/>
                  <a:pt x="1003897" y="0"/>
                  <a:pt x="1143113" y="0"/>
                </a:cubicBezTo>
                <a:lnTo>
                  <a:pt x="1143113" y="13007"/>
                </a:lnTo>
                <a:lnTo>
                  <a:pt x="1130369" y="13108"/>
                </a:lnTo>
                <a:cubicBezTo>
                  <a:pt x="999674" y="15313"/>
                  <a:pt x="900144" y="51696"/>
                  <a:pt x="831780" y="122256"/>
                </a:cubicBezTo>
                <a:lnTo>
                  <a:pt x="825458" y="129166"/>
                </a:lnTo>
                <a:cubicBezTo>
                  <a:pt x="761178" y="201304"/>
                  <a:pt x="729041" y="297857"/>
                  <a:pt x="729041" y="418822"/>
                </a:cubicBezTo>
                <a:lnTo>
                  <a:pt x="729041" y="952622"/>
                </a:lnTo>
                <a:lnTo>
                  <a:pt x="1152449" y="952622"/>
                </a:lnTo>
                <a:lnTo>
                  <a:pt x="1152449" y="528071"/>
                </a:lnTo>
                <a:close/>
              </a:path>
            </a:pathLst>
          </a:custGeom>
          <a:solidFill>
            <a:schemeClr val="accent5"/>
          </a:solidFill>
          <a:ln w="12970" cap="flat">
            <a:noFill/>
            <a:prstDash val="solid"/>
            <a:miter/>
          </a:ln>
        </p:spPr>
        <p:txBody>
          <a:bodyPr/>
          <a:lstStyle/>
          <a:p>
            <a:endParaRPr lang="en-DE" dirty="0">
              <a:solidFill>
                <a:schemeClr val="accent4"/>
              </a:solidFill>
              <a:latin typeface="Inter" panose="02000503000000020004" pitchFamily="50" charset="0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A048D12D-29DD-D8DF-D0A4-9A36FD29DD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E3E80215-1A0C-AEE9-21D0-C1DFF761BE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9" name="Union" descr="preencoded.png">
            <a:extLst>
              <a:ext uri="{FF2B5EF4-FFF2-40B4-BE49-F238E27FC236}">
                <a16:creationId xmlns:a16="http://schemas.microsoft.com/office/drawing/2014/main" id="{84A28516-F244-E772-2F22-00C058D757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  <p:sp>
        <p:nvSpPr>
          <p:cNvPr id="10" name="COMPANY OVERVIEW">
            <a:extLst>
              <a:ext uri="{FF2B5EF4-FFF2-40B4-BE49-F238E27FC236}">
                <a16:creationId xmlns:a16="http://schemas.microsoft.com/office/drawing/2014/main" id="{73581848-D525-1749-FBFB-E0E176CEEBC1}"/>
              </a:ext>
            </a:extLst>
          </p:cNvPr>
          <p:cNvSpPr/>
          <p:nvPr userDrawn="1"/>
        </p:nvSpPr>
        <p:spPr>
          <a:xfrm>
            <a:off x="4741071" y="243840"/>
            <a:ext cx="5150644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900" b="1" kern="0" cap="all" spc="168" baseline="0" dirty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PRESENTATION DESCRIPTION</a:t>
            </a: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465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28104F-AAE6-B720-6AA2-9965E47FA0B2}"/>
              </a:ext>
            </a:extLst>
          </p:cNvPr>
          <p:cNvSpPr/>
          <p:nvPr userDrawn="1"/>
        </p:nvSpPr>
        <p:spPr>
          <a:xfrm>
            <a:off x="0" y="481693"/>
            <a:ext cx="14630400" cy="77479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42B0A81-49C8-FCE9-4620-D42F33FDA2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6099" y="619732"/>
            <a:ext cx="2649981" cy="3409342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21B71CE-FC70-2F19-3188-ACCD0DB193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41219" y="619733"/>
            <a:ext cx="2649981" cy="3409342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9D4AFB4-FC0D-A2B9-7EC1-DD4D7717C9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6099" y="4248149"/>
            <a:ext cx="2649981" cy="343595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DEF1DFB8-BC9A-B59F-8B8A-BC5D1016A3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41219" y="4248150"/>
            <a:ext cx="2649981" cy="343595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6C11F13A-F960-0FFA-2F9F-71D30C7E6C9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81701" y="619732"/>
            <a:ext cx="5524500" cy="7064375"/>
          </a:xfrm>
          <a:prstGeom prst="roundRect">
            <a:avLst>
              <a:gd name="adj" fmla="val 2349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C9AEF74C-2790-BA06-A268-BE5922DA36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696700" y="619733"/>
            <a:ext cx="2649981" cy="3409342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2D46F34-3342-C2E2-018B-2A1814EC730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696700" y="4248149"/>
            <a:ext cx="2649981" cy="3435959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06C4B-AD0F-177E-920A-CFF3206E0714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879712-D34B-145B-F968-944F6414925F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196654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Canv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4630400" cy="579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54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D140-B4EA-E7E0-18A8-B7D83155FBFC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8E8F88-DA2A-1D8C-C16A-A27EE17F1733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8630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4" name="Union" descr="preencoded.png">
            <a:extLst>
              <a:ext uri="{FF2B5EF4-FFF2-40B4-BE49-F238E27FC236}">
                <a16:creationId xmlns:a16="http://schemas.microsoft.com/office/drawing/2014/main" id="{EA16ED0D-CB25-EA45-6EB2-9A86149AB4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922270"/>
            <a:ext cx="14630400" cy="2385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1374D-BA4A-0EF5-3894-069B57DF8D2A}"/>
              </a:ext>
            </a:extLst>
          </p:cNvPr>
          <p:cNvSpPr txBox="1"/>
          <p:nvPr userDrawn="1"/>
        </p:nvSpPr>
        <p:spPr>
          <a:xfrm>
            <a:off x="267231" y="7989116"/>
            <a:ext cx="29712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0571971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CF4D50-45C8-DA6C-C9B8-13ED37CF32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29000" y="2677810"/>
            <a:ext cx="7772400" cy="2873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DDA3C-197F-4DFB-CFBA-4D8F92B01B89}"/>
              </a:ext>
            </a:extLst>
          </p:cNvPr>
          <p:cNvSpPr txBox="1"/>
          <p:nvPr userDrawn="1"/>
        </p:nvSpPr>
        <p:spPr>
          <a:xfrm>
            <a:off x="267231" y="7989116"/>
            <a:ext cx="29712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3706270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19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9B77A6-51DB-A275-1E8D-9C0DB96B9B2E}"/>
              </a:ext>
            </a:extLst>
          </p:cNvPr>
          <p:cNvSpPr/>
          <p:nvPr userDrawn="1"/>
        </p:nvSpPr>
        <p:spPr>
          <a:xfrm>
            <a:off x="0" y="609600"/>
            <a:ext cx="14630400" cy="762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11" name="HeaderMasthead" descr="preencoded.png">
            <a:extLst>
              <a:ext uri="{FF2B5EF4-FFF2-40B4-BE49-F238E27FC236}">
                <a16:creationId xmlns:a16="http://schemas.microsoft.com/office/drawing/2014/main" id="{7AD18B85-66FF-545C-62C1-1AA3E2F607F2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rcRect t="7407"/>
          <a:stretch>
            <a:fillRect/>
          </a:stretch>
        </p:blipFill>
        <p:spPr>
          <a:xfrm>
            <a:off x="0" y="609600"/>
            <a:ext cx="14630400" cy="7620000"/>
          </a:xfrm>
          <a:prstGeom prst="rect">
            <a:avLst/>
          </a:prstGeom>
          <a:solidFill>
            <a:srgbClr val="F6F3F0"/>
          </a:solidFill>
        </p:spPr>
      </p:pic>
      <p:sp>
        <p:nvSpPr>
          <p:cNvPr id="8" name="Text Box 115">
            <a:extLst>
              <a:ext uri="{FF2B5EF4-FFF2-40B4-BE49-F238E27FC236}">
                <a16:creationId xmlns:a16="http://schemas.microsoft.com/office/drawing/2014/main" id="{E509171D-D1E5-AC55-9CA5-72DEBB670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57FED08E-39F8-715B-3405-179C34F64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116937" y="209246"/>
            <a:ext cx="263347" cy="17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pic>
        <p:nvPicPr>
          <p:cNvPr id="12" name="Union" descr="preencoded.png">
            <a:extLst>
              <a:ext uri="{FF2B5EF4-FFF2-40B4-BE49-F238E27FC236}">
                <a16:creationId xmlns:a16="http://schemas.microsoft.com/office/drawing/2014/main" id="{4FB38D83-98DA-D85F-B63C-1565BED26FC5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/>
          <a:stretch/>
        </p:blipFill>
        <p:spPr>
          <a:xfrm>
            <a:off x="491014" y="228835"/>
            <a:ext cx="938212" cy="151929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54F591-DD1D-779B-F521-4357971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10972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MPANY OVERVIEW">
            <a:extLst>
              <a:ext uri="{FF2B5EF4-FFF2-40B4-BE49-F238E27FC236}">
                <a16:creationId xmlns:a16="http://schemas.microsoft.com/office/drawing/2014/main" id="{7B162524-8505-A661-2881-71985958524A}"/>
              </a:ext>
            </a:extLst>
          </p:cNvPr>
          <p:cNvSpPr/>
          <p:nvPr userDrawn="1"/>
        </p:nvSpPr>
        <p:spPr>
          <a:xfrm>
            <a:off x="4741071" y="243840"/>
            <a:ext cx="5150644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900" b="1" kern="0" cap="all" spc="168" baseline="0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PRESENTATION DESCRIPTION</a:t>
            </a:r>
            <a:endParaRPr lang="en-US" sz="900" b="1" cap="all" baseline="0" dirty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8D71ED-9D19-C6F9-2CB5-DED660B9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188" y="2506980"/>
            <a:ext cx="13689012" cy="5162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40BB-194C-8CB0-E91C-E0A8396C52B4}"/>
              </a:ext>
            </a:extLst>
          </p:cNvPr>
          <p:cNvSpPr txBox="1"/>
          <p:nvPr userDrawn="1"/>
        </p:nvSpPr>
        <p:spPr>
          <a:xfrm>
            <a:off x="12008591" y="7985760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39F452-F205-21C0-5578-B7519A84CA15}"/>
              </a:ext>
            </a:extLst>
          </p:cNvPr>
          <p:cNvSpPr txBox="1">
            <a:spLocks/>
          </p:cNvSpPr>
          <p:nvPr userDrawn="1"/>
        </p:nvSpPr>
        <p:spPr>
          <a:xfrm>
            <a:off x="11296392" y="7788274"/>
            <a:ext cx="3066778" cy="17526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334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684" r:id="rId3"/>
    <p:sldLayoutId id="2147483721" r:id="rId4"/>
    <p:sldLayoutId id="2147483750" r:id="rId5"/>
    <p:sldLayoutId id="2147483739" r:id="rId6"/>
    <p:sldLayoutId id="2147483674" r:id="rId7"/>
    <p:sldLayoutId id="2147483697" r:id="rId8"/>
    <p:sldLayoutId id="2147483734" r:id="rId9"/>
    <p:sldLayoutId id="2147483714" r:id="rId10"/>
    <p:sldLayoutId id="2147483696" r:id="rId11"/>
    <p:sldLayoutId id="2147483705" r:id="rId12"/>
    <p:sldLayoutId id="2147483718" r:id="rId13"/>
    <p:sldLayoutId id="2147483694" r:id="rId14"/>
    <p:sldLayoutId id="2147483738" r:id="rId15"/>
    <p:sldLayoutId id="2147483740" r:id="rId16"/>
    <p:sldLayoutId id="2147483746" r:id="rId17"/>
    <p:sldLayoutId id="2147483701" r:id="rId18"/>
    <p:sldLayoutId id="2147483744" r:id="rId19"/>
    <p:sldLayoutId id="2147483745" r:id="rId20"/>
    <p:sldLayoutId id="2147483743" r:id="rId21"/>
    <p:sldLayoutId id="2147483711" r:id="rId22"/>
    <p:sldLayoutId id="2147483742" r:id="rId23"/>
    <p:sldLayoutId id="2147483719" r:id="rId24"/>
    <p:sldLayoutId id="2147483677" r:id="rId25"/>
    <p:sldLayoutId id="2147483720" r:id="rId26"/>
    <p:sldLayoutId id="2147483678" r:id="rId27"/>
    <p:sldLayoutId id="2147483737" r:id="rId28"/>
    <p:sldLayoutId id="2147483751" r:id="rId2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GT Standard L Extended" pitchFamily="50" charset="0"/>
          <a:ea typeface="Inter Medium" panose="02000603000000020004" pitchFamily="50" charset="0"/>
          <a:cs typeface="Inter Medium" panose="02000603000000020004" pitchFamily="50" charset="0"/>
        </a:defRPr>
      </a:lvl1pPr>
    </p:titleStyle>
    <p:bodyStyle>
      <a:lvl1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1pPr>
      <a:lvl2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2pPr>
      <a:lvl3pPr marL="228600" indent="-22860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3pPr>
      <a:lvl4pPr marL="517525" indent="-288925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4pPr>
      <a:lvl5pPr marL="800100" indent="-27305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orient="horz" pos="5034" userDrawn="1">
          <p15:clr>
            <a:srgbClr val="F26B43"/>
          </p15:clr>
        </p15:guide>
        <p15:guide id="7" pos="288">
          <p15:clr>
            <a:srgbClr val="F26B43"/>
          </p15:clr>
        </p15:guide>
        <p15:guide id="8" pos="1836" userDrawn="1">
          <p15:clr>
            <a:srgbClr val="F26B43"/>
          </p15:clr>
        </p15:guide>
        <p15:guide id="9" pos="1956" userDrawn="1">
          <p15:clr>
            <a:srgbClr val="F26B43"/>
          </p15:clr>
        </p15:guide>
        <p15:guide id="10" pos="3648" userDrawn="1">
          <p15:clr>
            <a:srgbClr val="F26B43"/>
          </p15:clr>
        </p15:guide>
        <p15:guide id="11" pos="3768" userDrawn="1">
          <p15:clr>
            <a:srgbClr val="F26B43"/>
          </p15:clr>
        </p15:guide>
        <p15:guide id="12" pos="5448" userDrawn="1">
          <p15:clr>
            <a:srgbClr val="F26B43"/>
          </p15:clr>
        </p15:guide>
        <p15:guide id="13" pos="5568" userDrawn="1">
          <p15:clr>
            <a:srgbClr val="F26B43"/>
          </p15:clr>
        </p15:guide>
        <p15:guide id="14" pos="7248" userDrawn="1">
          <p15:clr>
            <a:srgbClr val="F26B43"/>
          </p15:clr>
        </p15:guide>
        <p15:guide id="15" pos="7368" userDrawn="1">
          <p15:clr>
            <a:srgbClr val="F26B43"/>
          </p15:clr>
        </p15:guide>
        <p15:guide id="16" pos="168" userDrawn="1">
          <p15:clr>
            <a:srgbClr val="F26B43"/>
          </p15:clr>
        </p15:guide>
        <p15:guide id="17" pos="9048" userDrawn="1">
          <p15:clr>
            <a:srgbClr val="F26B43"/>
          </p15:clr>
        </p15:guide>
        <p15:guide id="18" orient="horz" pos="48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82598" y="7301248"/>
            <a:ext cx="7428393" cy="96145"/>
          </a:xfrm>
        </p:spPr>
        <p:txBody>
          <a:bodyPr/>
          <a:lstStyle/>
          <a:p>
            <a:r>
              <a:rPr dirty="0"/>
              <a:t>DXC Technology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972734" y="5517223"/>
            <a:ext cx="7353431" cy="1784026"/>
          </a:xfrm>
        </p:spPr>
        <p:txBody>
          <a:bodyPr/>
          <a:lstStyle/>
          <a:p>
            <a:pPr algn="l">
              <a:defRPr b="1"/>
            </a:pPr>
            <a:r>
              <a:rPr dirty="0"/>
              <a:t>AI-Powered Data Migration &amp;</a:t>
            </a:r>
            <a:br>
              <a:rPr dirty="0"/>
            </a:br>
            <a:r>
              <a:rPr dirty="0"/>
              <a:t>Modernization Agent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4"/>
          </p:nvPr>
        </p:nvSpPr>
        <p:spPr>
          <a:xfrm>
            <a:off x="82598" y="7592428"/>
            <a:ext cx="3618548" cy="181534"/>
          </a:xfrm>
        </p:spPr>
        <p:txBody>
          <a:bodyPr/>
          <a:lstStyle/>
          <a:p>
            <a:r>
              <a:rPr dirty="0"/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FFAE41"/>
                </a:solidFill>
              </a:rPr>
              <a:t>01  </a:t>
            </a:r>
            <a:r>
              <a:rPr sz="1800" b="1" dirty="0">
                <a:solidFill>
                  <a:srgbClr val="0E1020"/>
                </a:solidFill>
              </a:rPr>
              <a:t>Overview</a:t>
            </a:r>
            <a:r>
              <a:rPr lang="en-IN" sz="1800" b="1" dirty="0">
                <a:solidFill>
                  <a:srgbClr val="0E1020"/>
                </a:solidFill>
              </a:rPr>
              <a:t> </a:t>
            </a:r>
            <a:r>
              <a:rPr sz="1400" dirty="0">
                <a:solidFill>
                  <a:srgbClr val="555555"/>
                </a:solidFill>
              </a:rPr>
              <a:t>—  AI Migration Agent capabilities &amp; tech stack</a:t>
            </a:r>
            <a:endParaRPr lang="en-IN" sz="1400" dirty="0">
              <a:solidFill>
                <a:srgbClr val="555555"/>
              </a:solidFill>
            </a:endParaRPr>
          </a:p>
          <a:p>
            <a:pPr>
              <a:spcAft>
                <a:spcPts val="1400"/>
              </a:spcAft>
            </a:pPr>
            <a:r>
              <a:rPr lang="en-IN" sz="1800" b="1" dirty="0">
                <a:solidFill>
                  <a:srgbClr val="FFAE41"/>
                </a:solidFill>
              </a:rPr>
              <a:t>02  </a:t>
            </a:r>
            <a:r>
              <a:rPr lang="en-IN" sz="1800" b="1" dirty="0">
                <a:solidFill>
                  <a:srgbClr val="0E1020"/>
                </a:solidFill>
              </a:rPr>
              <a:t>Business Challenges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—  Risky, Slow and Expensive</a:t>
            </a:r>
            <a:endParaRPr sz="1800" b="1" dirty="0">
              <a:solidFill>
                <a:srgbClr val="0E1020"/>
              </a:solidFill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FFAE41"/>
                </a:solidFill>
              </a:rPr>
              <a:t>0</a:t>
            </a:r>
            <a:r>
              <a:rPr lang="en-IN" sz="1800" b="1" dirty="0">
                <a:solidFill>
                  <a:srgbClr val="FFAE41"/>
                </a:solidFill>
              </a:rPr>
              <a:t>3</a:t>
            </a:r>
            <a:r>
              <a:rPr sz="1800" b="1" dirty="0">
                <a:solidFill>
                  <a:srgbClr val="FFAE41"/>
                </a:solidFill>
              </a:rPr>
              <a:t>  </a:t>
            </a:r>
            <a:r>
              <a:rPr sz="1800" b="1" dirty="0">
                <a:solidFill>
                  <a:srgbClr val="0E1020"/>
                </a:solidFill>
              </a:rPr>
              <a:t>Architecture</a:t>
            </a:r>
            <a:r>
              <a:rPr sz="1400" dirty="0">
                <a:solidFill>
                  <a:srgbClr val="555555"/>
                </a:solidFill>
              </a:rPr>
              <a:t>  —  Multi-agent system design &amp; workflow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FFAE41"/>
                </a:solidFill>
              </a:rPr>
              <a:t>0</a:t>
            </a:r>
            <a:r>
              <a:rPr lang="en-IN" sz="1800" b="1" dirty="0">
                <a:solidFill>
                  <a:srgbClr val="FFAE41"/>
                </a:solidFill>
              </a:rPr>
              <a:t>4</a:t>
            </a:r>
            <a:r>
              <a:rPr sz="1800" b="1" dirty="0">
                <a:solidFill>
                  <a:srgbClr val="FFAE41"/>
                </a:solidFill>
              </a:rPr>
              <a:t>  </a:t>
            </a:r>
            <a:r>
              <a:rPr sz="1800" b="1" dirty="0">
                <a:solidFill>
                  <a:srgbClr val="0E1020"/>
                </a:solidFill>
              </a:rPr>
              <a:t>Pre-Migration (Phases 1–4)</a:t>
            </a:r>
            <a:r>
              <a:rPr sz="1400" dirty="0">
                <a:solidFill>
                  <a:srgbClr val="555555"/>
                </a:solidFill>
              </a:rPr>
              <a:t>  —  Connect, Discover, Analyze, Map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FFAE41"/>
                </a:solidFill>
              </a:rPr>
              <a:t>0</a:t>
            </a:r>
            <a:r>
              <a:rPr lang="en-IN" sz="1800" b="1" dirty="0">
                <a:solidFill>
                  <a:srgbClr val="FFAE41"/>
                </a:solidFill>
              </a:rPr>
              <a:t>5</a:t>
            </a:r>
            <a:r>
              <a:rPr sz="1800" b="1" dirty="0">
                <a:solidFill>
                  <a:srgbClr val="FFAE41"/>
                </a:solidFill>
              </a:rPr>
              <a:t>  </a:t>
            </a:r>
            <a:r>
              <a:rPr sz="1800" b="1" dirty="0">
                <a:solidFill>
                  <a:srgbClr val="0E1020"/>
                </a:solidFill>
              </a:rPr>
              <a:t>Migration (Phases 5–7)</a:t>
            </a:r>
            <a:r>
              <a:rPr sz="1400" dirty="0">
                <a:solidFill>
                  <a:srgbClr val="555555"/>
                </a:solidFill>
              </a:rPr>
              <a:t>  —  </a:t>
            </a:r>
            <a:r>
              <a:rPr lang="en-IN" sz="1400" dirty="0">
                <a:solidFill>
                  <a:srgbClr val="555555"/>
                </a:solidFill>
              </a:rPr>
              <a:t>Approve, </a:t>
            </a:r>
            <a:r>
              <a:rPr sz="1400" dirty="0">
                <a:solidFill>
                  <a:srgbClr val="555555"/>
                </a:solidFill>
              </a:rPr>
              <a:t>Generate DDL, Execute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FFAE41"/>
                </a:solidFill>
              </a:rPr>
              <a:t>0</a:t>
            </a:r>
            <a:r>
              <a:rPr lang="en-IN" sz="1800" b="1" dirty="0">
                <a:solidFill>
                  <a:srgbClr val="FFAE41"/>
                </a:solidFill>
              </a:rPr>
              <a:t>6</a:t>
            </a:r>
            <a:r>
              <a:rPr sz="1800" b="1" dirty="0">
                <a:solidFill>
                  <a:srgbClr val="FFAE41"/>
                </a:solidFill>
              </a:rPr>
              <a:t>  </a:t>
            </a:r>
            <a:r>
              <a:rPr sz="1800" b="1" dirty="0">
                <a:solidFill>
                  <a:srgbClr val="0E1020"/>
                </a:solidFill>
              </a:rPr>
              <a:t>Post-Migration (Phases 8–9)</a:t>
            </a:r>
            <a:r>
              <a:rPr sz="1400" dirty="0">
                <a:solidFill>
                  <a:srgbClr val="555555"/>
                </a:solidFill>
              </a:rPr>
              <a:t>  —  Validate &amp; Report</a:t>
            </a:r>
            <a:endParaRPr lang="en-IN" sz="1400" dirty="0">
              <a:solidFill>
                <a:srgbClr val="555555"/>
              </a:solidFill>
            </a:endParaRPr>
          </a:p>
          <a:p>
            <a:pPr>
              <a:spcAft>
                <a:spcPts val="1400"/>
              </a:spcAft>
            </a:pPr>
            <a:r>
              <a:rPr lang="en-IN" sz="1800" b="1" dirty="0">
                <a:solidFill>
                  <a:srgbClr val="FFAE41"/>
                </a:solidFill>
              </a:rPr>
              <a:t>07 </a:t>
            </a:r>
            <a:r>
              <a:rPr lang="en-IN" sz="1800" b="1" dirty="0">
                <a:solidFill>
                  <a:srgbClr val="0E1020"/>
                </a:solidFill>
              </a:rPr>
              <a:t>Business Benefits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—  F</a:t>
            </a:r>
            <a:r>
              <a:rPr lang="en-IN" sz="1400" dirty="0">
                <a:solidFill>
                  <a:srgbClr val="555555"/>
                </a:solidFill>
              </a:rPr>
              <a:t>aster, Zero data loss, Real-time drift detection, Full audit trail</a:t>
            </a:r>
            <a:endParaRPr sz="1400" dirty="0">
              <a:solidFill>
                <a:srgbClr val="555555"/>
              </a:solidFill>
            </a:endParaRP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rgbClr val="FFAE41"/>
                </a:solidFill>
              </a:rPr>
              <a:t>06  </a:t>
            </a:r>
            <a:r>
              <a:rPr sz="1800" b="1" dirty="0">
                <a:solidFill>
                  <a:srgbClr val="0E1020"/>
                </a:solidFill>
              </a:rPr>
              <a:t>Demo &amp; Q&amp;A</a:t>
            </a:r>
            <a:r>
              <a:rPr sz="1400" dirty="0">
                <a:solidFill>
                  <a:srgbClr val="555555"/>
                </a:solidFill>
              </a:rPr>
              <a:t>  —  Live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1" dirty="0"/>
              <a:t>AI Data Migration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7514931" y="1941097"/>
            <a:ext cx="6831012" cy="399239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1800" b="1" dirty="0"/>
              <a:t>End-to-end migration: Oracle → Azure SQL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1800" dirty="0"/>
              <a:t>• AI-powered datatype analysis with confidence scores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1800" dirty="0"/>
              <a:t>• Automated DDL generation for Azure SQL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1800" dirty="0"/>
              <a:t>• Human-in-the-loop approval gates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1800" dirty="0"/>
              <a:t>• 9-phase </a:t>
            </a:r>
            <a:r>
              <a:rPr lang="en-IN" sz="1800" dirty="0" err="1"/>
              <a:t>LangGraph</a:t>
            </a:r>
            <a:r>
              <a:rPr lang="en-IN" sz="1800" dirty="0"/>
              <a:t> orchestration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1800" dirty="0"/>
              <a:t>• Real-time Flask dashboard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1800" dirty="0"/>
              <a:t>• AI-generated executive reports (PDF)</a:t>
            </a:r>
            <a:endParaRPr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455211"/>
          </a:xfrm>
        </p:spPr>
        <p:txBody>
          <a:bodyPr/>
          <a:lstStyle/>
          <a:p>
            <a:r>
              <a:rPr dirty="0"/>
              <a:t>Overview</a:t>
            </a:r>
            <a:br>
              <a:rPr lang="en-IN" dirty="0"/>
            </a:b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00ACA6-7562-620D-2515-AAACF647C80F}"/>
              </a:ext>
            </a:extLst>
          </p:cNvPr>
          <p:cNvSpPr txBox="1"/>
          <p:nvPr/>
        </p:nvSpPr>
        <p:spPr>
          <a:xfrm>
            <a:off x="367849" y="1977416"/>
            <a:ext cx="6831012" cy="3403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The AI Data Migration Agent is an intelligent, end-to-end database migration solution that automates the complete migration lifecycle from Oracle to Azure SQL. Built by the Technology, it leverages AI (Azure OpenAI GPT-4omini) orchestrated through a </a:t>
            </a:r>
            <a:r>
              <a:rPr lang="en-IN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LangGraph</a:t>
            </a: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workflow to eliminate manual effort, reduce human error, and accelerate migration timelines.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IN" sz="16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3B759-75B4-2CAF-6A64-21BD9D0B0C3F}"/>
              </a:ext>
            </a:extLst>
          </p:cNvPr>
          <p:cNvSpPr txBox="1"/>
          <p:nvPr/>
        </p:nvSpPr>
        <p:spPr>
          <a:xfrm>
            <a:off x="484186" y="5381297"/>
            <a:ext cx="630703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b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Tech Stack:</a:t>
            </a:r>
          </a:p>
          <a:p>
            <a:pPr algn="l">
              <a:spcAft>
                <a:spcPts val="600"/>
              </a:spcAft>
            </a:pP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 Azure OpenAI (GPT-4omini) + LLM + </a:t>
            </a:r>
            <a:r>
              <a:rPr lang="en-IN" sz="16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LangGraph</a:t>
            </a: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+ </a:t>
            </a:r>
            <a:r>
              <a:rPr lang="en-IN" sz="16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LangChain</a:t>
            </a:r>
            <a:endParaRPr lang="en-IN" sz="16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>
              <a:spcAft>
                <a:spcPts val="600"/>
              </a:spcAft>
            </a:pP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 Python, Flask, </a:t>
            </a:r>
            <a:r>
              <a:rPr lang="en-IN" sz="16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Streamlit</a:t>
            </a: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, Azure </a:t>
            </a:r>
            <a:r>
              <a:rPr lang="en-IN" sz="16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devtunnel</a:t>
            </a: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,</a:t>
            </a:r>
          </a:p>
          <a:p>
            <a:pPr algn="l">
              <a:spcAft>
                <a:spcPts val="600"/>
              </a:spcAft>
            </a:pP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 </a:t>
            </a:r>
            <a:r>
              <a:rPr lang="en-IN" sz="16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pyodbc</a:t>
            </a: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, </a:t>
            </a:r>
            <a:r>
              <a:rPr lang="en-IN" sz="16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oracledb</a:t>
            </a:r>
            <a:r>
              <a:rPr lang="en-IN" sz="16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, </a:t>
            </a:r>
            <a:r>
              <a:rPr lang="en-IN" sz="16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SQLAlchemy</a:t>
            </a:r>
            <a:endParaRPr lang="en-IN" sz="16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593824" cy="87782"/>
          </a:xfrm>
          <a:prstGeom prst="rect">
            <a:avLst/>
          </a:prstGeom>
          <a:solidFill>
            <a:srgbClr val="F26522"/>
          </a:solidFill>
          <a:ln/>
        </p:spPr>
        <p:txBody>
          <a:bodyPr/>
          <a:lstStyle/>
          <a:p>
            <a:endParaRPr lang="en-IN" sz="2160"/>
          </a:p>
        </p:txBody>
      </p:sp>
      <p:sp>
        <p:nvSpPr>
          <p:cNvPr id="3" name="Shape 1"/>
          <p:cNvSpPr/>
          <p:nvPr/>
        </p:nvSpPr>
        <p:spPr>
          <a:xfrm>
            <a:off x="0" y="87783"/>
            <a:ext cx="14593824" cy="43891"/>
          </a:xfrm>
          <a:prstGeom prst="rect">
            <a:avLst/>
          </a:prstGeom>
          <a:solidFill>
            <a:srgbClr val="0A66C2"/>
          </a:solidFill>
          <a:ln/>
        </p:spPr>
        <p:txBody>
          <a:bodyPr/>
          <a:lstStyle/>
          <a:p>
            <a:endParaRPr lang="en-IN" sz="2160"/>
          </a:p>
        </p:txBody>
      </p:sp>
      <p:sp>
        <p:nvSpPr>
          <p:cNvPr id="6" name="Text 4"/>
          <p:cNvSpPr/>
          <p:nvPr/>
        </p:nvSpPr>
        <p:spPr>
          <a:xfrm>
            <a:off x="13606272" y="2743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58368" y="1514246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32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432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19C6F-DF22-5B91-CCA0-F44DFAE93F55}"/>
              </a:ext>
            </a:extLst>
          </p:cNvPr>
          <p:cNvSpPr txBox="1"/>
          <p:nvPr/>
        </p:nvSpPr>
        <p:spPr>
          <a:xfrm>
            <a:off x="1476190" y="2702467"/>
            <a:ext cx="116028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500+ database objects</a:t>
            </a: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requiring manual analysis and mapping</a:t>
            </a:r>
          </a:p>
          <a:p>
            <a:pPr marL="342900" lvl="0" indent="-3429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Weeks of DBA effort</a:t>
            </a: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for migration assessment and planning</a:t>
            </a:r>
          </a:p>
          <a:p>
            <a:pPr marL="342900" lvl="0" indent="-3429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Limited visibility into schema changes and dependencies</a:t>
            </a:r>
          </a:p>
          <a:p>
            <a:pPr marL="342900" lvl="0" indent="-3429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Manual validation increased risk of data quality issues</a:t>
            </a:r>
          </a:p>
          <a:p>
            <a:pPr marL="342900" lvl="0" indent="-3429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No automated governance, audit, or compliance tracking</a:t>
            </a:r>
          </a:p>
          <a:p>
            <a:pPr marL="342900" lvl="0" indent="-3429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20-30% project delays</a:t>
            </a: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due to repetitive migration activities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fontAlgn="t"/>
            <a:r>
              <a:rPr lang="en-IN" b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Goal</a:t>
            </a:r>
            <a:r>
              <a:rPr lang="en-IN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: Automate migration discovery, validation, and synchronization to reduce effort, improve data quality, and accelerate cloud modernization.</a:t>
            </a:r>
          </a:p>
          <a:p>
            <a:pPr fontAlgn="t">
              <a:lnSpc>
                <a:spcPct val="100000"/>
              </a:lnSpc>
              <a:buNone/>
            </a:pPr>
            <a:endParaRPr lang="en-IN" sz="1800" b="1" i="0" dirty="0"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7F13F-6F16-0A2B-5B3C-27251C839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48331-7771-A2C7-9CC6-F82B6DB9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66" y="983218"/>
            <a:ext cx="13541867" cy="572308"/>
          </a:xfrm>
        </p:spPr>
        <p:txBody>
          <a:bodyPr anchor="t">
            <a:normAutofit/>
          </a:bodyPr>
          <a:lstStyle/>
          <a:p>
            <a:r>
              <a:rPr lang="en-IN" sz="3200" dirty="0"/>
              <a:t>Architecture</a:t>
            </a:r>
            <a:endParaRPr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7CDF3-3EA5-9B50-76DC-C14D3FB8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268" y="1555526"/>
            <a:ext cx="11285559" cy="6225486"/>
          </a:xfrm>
          <a:prstGeom prst="rect">
            <a:avLst/>
          </a:prstGeom>
          <a:noFill/>
        </p:spPr>
      </p:pic>
      <p:sp>
        <p:nvSpPr>
          <p:cNvPr id="10" name="Subtitle 1">
            <a:extLst>
              <a:ext uri="{FF2B5EF4-FFF2-40B4-BE49-F238E27FC236}">
                <a16:creationId xmlns:a16="http://schemas.microsoft.com/office/drawing/2014/main" id="{0050FE5D-178D-2AEC-C50C-9C4B6BDD2178}"/>
              </a:ext>
            </a:extLst>
          </p:cNvPr>
          <p:cNvSpPr txBox="1">
            <a:spLocks/>
          </p:cNvSpPr>
          <p:nvPr/>
        </p:nvSpPr>
        <p:spPr>
          <a:xfrm>
            <a:off x="472592" y="594058"/>
            <a:ext cx="4358641" cy="20133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 marL="0" indent="0" algn="l" defTabSz="109728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228600" indent="-228600" algn="l" defTabSz="109728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517525" indent="-288925" algn="l" defTabSz="109728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800100" indent="-273050" algn="l" defTabSz="109728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AI Data Migration Agent</a:t>
            </a:r>
          </a:p>
        </p:txBody>
      </p:sp>
    </p:spTree>
    <p:extLst>
      <p:ext uri="{BB962C8B-B14F-4D97-AF65-F5344CB8AC3E}">
        <p14:creationId xmlns:p14="http://schemas.microsoft.com/office/powerpoint/2010/main" val="175205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123650" y="2086849"/>
            <a:ext cx="5586069" cy="499357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chemeClr val="accent4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rPr>
              <a:t>Speed &amp; Efficiency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</a:t>
            </a:r>
            <a:r>
              <a:rPr sz="1200" dirty="0"/>
              <a:t> </a:t>
            </a:r>
            <a:r>
              <a:rPr sz="1800" dirty="0"/>
              <a:t>90% faster schema analysis</a:t>
            </a:r>
            <a:endParaRPr lang="en-IN" sz="1800" dirty="0"/>
          </a:p>
          <a:p>
            <a:pPr>
              <a:spcAft>
                <a:spcPts val="300"/>
              </a:spcAft>
              <a:defRPr sz="1100"/>
            </a:pPr>
            <a:r>
              <a:rPr lang="en-IN" sz="1800" dirty="0"/>
              <a:t>•</a:t>
            </a:r>
            <a:r>
              <a:rPr lang="en-IN" sz="1200" dirty="0"/>
              <a:t> </a:t>
            </a:r>
            <a:r>
              <a:rPr lang="en-US" sz="1800" dirty="0"/>
              <a:t>60-80% reduction in manual assessment effort</a:t>
            </a:r>
            <a:endParaRPr sz="1800" dirty="0"/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Automated DDL — zero hand-coding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Parallel batch data transfer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Single workflow replaces 5+ manual tools</a:t>
            </a:r>
            <a:endParaRPr lang="en-IN" sz="1800" dirty="0"/>
          </a:p>
          <a:p>
            <a:pPr>
              <a:spcAft>
                <a:spcPts val="600"/>
              </a:spcAft>
            </a:pPr>
            <a:r>
              <a:rPr sz="2000" dirty="0">
                <a:solidFill>
                  <a:schemeClr val="accent4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rPr>
              <a:t>Intelligence &amp; Accuracy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</a:t>
            </a:r>
            <a:r>
              <a:rPr lang="en-IN" sz="1800" dirty="0"/>
              <a:t>Consistent, traceable AI recommendations</a:t>
            </a:r>
            <a:endParaRPr sz="1800" dirty="0"/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Risk scoring: Low / Medium / High per column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Rule-based fallback if AI unavailable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AI explains every decision in natural language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4187" y="1305919"/>
            <a:ext cx="13689011" cy="572308"/>
          </a:xfrm>
        </p:spPr>
        <p:txBody>
          <a:bodyPr/>
          <a:lstStyle/>
          <a:p>
            <a:r>
              <a:rPr dirty="0"/>
              <a:t>Benefits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>
          <a:xfrm>
            <a:off x="8441448" y="2086849"/>
            <a:ext cx="5065302" cy="516255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2000" dirty="0">
                <a:solidFill>
                  <a:schemeClr val="accent4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rPr>
              <a:t>Quality &amp; Governance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Human-in-the-loop approval gate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6-check validation (rows, NULLs, checksums)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Full audit trail for compliance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Zero unintended changes to production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chemeClr val="accent4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rPr>
              <a:t>Cost Reduction &amp; Reporting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</a:t>
            </a:r>
            <a:r>
              <a:rPr lang="en-IN" sz="1800" dirty="0"/>
              <a:t>Faster discovery-to-readiness (weeks → days)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Fewer errors — AI catches issues early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Reusable across Oracle, SQL Server, Snowflake</a:t>
            </a:r>
          </a:p>
          <a:p>
            <a:pPr>
              <a:spcAft>
                <a:spcPts val="300"/>
              </a:spcAft>
              <a:defRPr sz="1100"/>
            </a:pPr>
            <a:r>
              <a:rPr sz="1800" dirty="0"/>
              <a:t>• AI-generated executive summaries &amp; PDF reports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1A2C46-1DA5-5865-3F32-0B8BE9FDBA97}"/>
              </a:ext>
            </a:extLst>
          </p:cNvPr>
          <p:cNvSpPr txBox="1"/>
          <p:nvPr/>
        </p:nvSpPr>
        <p:spPr>
          <a:xfrm>
            <a:off x="1061051" y="7080422"/>
            <a:ext cx="10381306" cy="103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0E1020"/>
                </a:solidFill>
              </a:defRPr>
            </a:pPr>
            <a:r>
              <a:rPr lang="en-US" sz="2400" dirty="0"/>
              <a:t>Row Accuracy - Tables Migrated - Migration Time</a:t>
            </a:r>
          </a:p>
          <a:p>
            <a:pPr>
              <a:spcAft>
                <a:spcPts val="1600"/>
              </a:spcAft>
              <a:defRPr sz="1400">
                <a:solidFill>
                  <a:srgbClr val="0E1020"/>
                </a:solidFill>
              </a:defRPr>
            </a:pPr>
            <a:r>
              <a:rPr lang="en-US" sz="2400" b="1" dirty="0">
                <a:solidFill>
                  <a:srgbClr val="4995FF"/>
                </a:solidFill>
              </a:rPr>
              <a:t>99.9%				50+				&lt;2hrs</a:t>
            </a:r>
            <a:endParaRPr lang="en-US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AECBE-FF0A-16C3-54B4-D571D115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49436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XC">
  <a:themeElements>
    <a:clrScheme name="DXC New Brand">
      <a:dk1>
        <a:srgbClr val="0E1020"/>
      </a:dk1>
      <a:lt1>
        <a:sysClr val="window" lastClr="FFFFFF"/>
      </a:lt1>
      <a:dk2>
        <a:srgbClr val="FFC982"/>
      </a:dk2>
      <a:lt2>
        <a:srgbClr val="F6F3F0"/>
      </a:lt2>
      <a:accent1>
        <a:srgbClr val="FFAE41"/>
      </a:accent1>
      <a:accent2>
        <a:srgbClr val="FF7E51"/>
      </a:accent2>
      <a:accent3>
        <a:srgbClr val="D14600"/>
      </a:accent3>
      <a:accent4>
        <a:srgbClr val="004AAC"/>
      </a:accent4>
      <a:accent5>
        <a:srgbClr val="4995FF"/>
      </a:accent5>
      <a:accent6>
        <a:srgbClr val="A1E6FF"/>
      </a:accent6>
      <a:hlink>
        <a:srgbClr val="0E1020"/>
      </a:hlink>
      <a:folHlink>
        <a:srgbClr val="0E102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1600" dirty="0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XC_New Brand PPT Template_DXC Internal_Dec 2025_Small.pptx" id="{63854C76-A8EE-40B2-823A-EB79B5046E1E}" vid="{DBEA66F5-D810-447E-A41B-4579154764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AC1904-3B78-4169-B5F6-76C32AD5E82B}">
  <we:reference id="7c42e8b1-3a5f-4d92-b6e1-f0a8c3d72e49" version="1.0.11635.0" store="EXCatalog" storeType="EXCatalog"/>
  <we:alternateReferences>
    <we:reference id="WA200010606" version="1.0.11635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6F182140194F4A8CCC57EE77F8793D" ma:contentTypeVersion="6" ma:contentTypeDescription="Create a new document." ma:contentTypeScope="" ma:versionID="ad5a13c6c69c15c5a6d2fab20fb4d2bc">
  <xsd:schema xmlns:xsd="http://www.w3.org/2001/XMLSchema" xmlns:xs="http://www.w3.org/2001/XMLSchema" xmlns:p="http://schemas.microsoft.com/office/2006/metadata/properties" xmlns:ns2="f228489a-dcf5-4b36-becb-e077c37c524e" targetNamespace="http://schemas.microsoft.com/office/2006/metadata/properties" ma:root="true" ma:fieldsID="3be3ec3c35897cb6ff42e144227edc16" ns2:_="">
    <xsd:import namespace="f228489a-dcf5-4b36-becb-e077c37c52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8489a-dcf5-4b36-becb-e077c37c52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029A53-469F-4A81-8E4C-4B73DC96E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28489a-dcf5-4b36-becb-e077c37c52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98A58B-876F-42E2-BEC0-1193FE4D620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B4A852-DCA5-408B-8D0B-862D89A4D6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DXC_New Brand PPT Template_SHORT_DXC Internal_Dec 2025</Template>
  <TotalTime>1745</TotalTime>
  <Words>482</Words>
  <Application>Microsoft Office PowerPoint</Application>
  <PresentationFormat>Custom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Inter Light</vt:lpstr>
      <vt:lpstr>Inter</vt:lpstr>
      <vt:lpstr>Inter SemiBold</vt:lpstr>
      <vt:lpstr>Arial</vt:lpstr>
      <vt:lpstr>GT Standard L Extended</vt:lpstr>
      <vt:lpstr>Calibri</vt:lpstr>
      <vt:lpstr>Inter Medium</vt:lpstr>
      <vt:lpstr>Inter Bold</vt:lpstr>
      <vt:lpstr>Inter Regular</vt:lpstr>
      <vt:lpstr>DXC</vt:lpstr>
      <vt:lpstr>AI-Powered Data Migration &amp; Modernization Agent</vt:lpstr>
      <vt:lpstr>Agenda</vt:lpstr>
      <vt:lpstr>Overview </vt:lpstr>
      <vt:lpstr>PowerPoint Presentation</vt:lpstr>
      <vt:lpstr>Architecture</vt:lpstr>
      <vt:lpstr>Benefits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Kandaswamy, Amutha</dc:creator>
  <cp:lastModifiedBy>Kandaswamy, Amutha</cp:lastModifiedBy>
  <cp:revision>15</cp:revision>
  <dcterms:created xsi:type="dcterms:W3CDTF">2026-08-24T08:24:28Z</dcterms:created>
  <dcterms:modified xsi:type="dcterms:W3CDTF">2026-09-23T13:53:55Z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2025-12-09T16:07:32Z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4b7d9dea-3b11-47e8-b915-12305eea8642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  <property fmtid="{D5CDD505-2E9C-101B-9397-08002B2CF9AE}" pid="10" name="ContentTypeId">
    <vt:lpwstr>0x010100916F182140194F4A8CCC57EE77F8793D</vt:lpwstr>
  </property>
</Properties>
</file>