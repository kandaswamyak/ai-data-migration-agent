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1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PowerPoint template, DXC branding style and Oracle to PostgreSQL AI migration dashboard screenshots.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PowerPoint agenda content and DXC style reference.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dashboard screenshots and migration workflow context.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AI provider and migration workflow screenshots.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Migration lifecycle content derived from the user-provided dashboard workflow and Oracle to PostgreSQL AI migration tool context.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Oracle and PostgreSQL connection dashboard screenshots.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Azure OpenAI configuration screenshots.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object selection and dependency handling screenshots.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AI assessment screenshots and dashboard log details.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schema conversion dashboard screenshot.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data type mapping dashboard screenshot.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migration execution dashboard screenshot.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validation, report/history and assistant/token dashboard screenshots.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Based on user-provided dashboard capabilities and migration workflow content.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Recommended next steps derived from the user-provided migration lifecycle and dashboard screens.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DXC style reference and presentation content.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XC_MASTER">
    <p:bg>
      <p:bgPr>
        <a:solidFill>
          <a:srgbClr val="F7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_work/unzip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1"/>
          <p:cNvSpPr/>
          <p:nvPr/>
        </p:nvSpPr>
        <p:spPr>
          <a:xfrm>
            <a:off x="0" y="146304"/>
            <a:ext cx="12191695" cy="64008"/>
          </a:xfrm>
          <a:prstGeom prst="rect">
            <a:avLst/>
          </a:prstGeom>
          <a:solidFill>
            <a:srgbClr val="0A66C2"/>
          </a:solidFill>
          <a:ln w="12700">
            <a:solidFill>
              <a:srgbClr val="0A66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2"/>
          <p:cNvSpPr/>
          <p:nvPr/>
        </p:nvSpPr>
        <p:spPr>
          <a:xfrm>
            <a:off x="0" y="6583680"/>
            <a:ext cx="12191695" cy="146304"/>
          </a:xfrm>
          <a:prstGeom prst="rect">
            <a:avLst/>
          </a:prstGeom>
          <a:solidFill>
            <a:srgbClr val="0A66C2"/>
          </a:solidFill>
          <a:ln w="12700">
            <a:solidFill>
              <a:srgbClr val="0A66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566928" y="1097280"/>
            <a:ext cx="6903720" cy="3977640"/>
          </a:xfrm>
          <a:prstGeom prst="roundRect">
            <a:avLst>
              <a:gd name="adj" fmla="val 1839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blurRad="15240" dist="9525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8" name="Image 1" descr="/mnt/data/ppt_work/unzip/ppt/media/image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1389888"/>
            <a:ext cx="969264" cy="16459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41248" y="190195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0A66C2"/>
                </a:solidFill>
              </a:rPr>
              <a:t>ORACLE TO POSTGRESQL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841248" y="2267712"/>
            <a:ext cx="5989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01828"/>
                </a:solidFill>
              </a:rPr>
              <a:t>AI MIGRATION TOOL</a:t>
            </a:r>
            <a:endParaRPr lang="en-US" sz="2800" dirty="0"/>
          </a:p>
        </p:txBody>
      </p:sp>
      <p:sp>
        <p:nvSpPr>
          <p:cNvPr id="11" name="Shape 7"/>
          <p:cNvSpPr/>
          <p:nvPr/>
        </p:nvSpPr>
        <p:spPr>
          <a:xfrm>
            <a:off x="859536" y="2862072"/>
            <a:ext cx="1325880" cy="64008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8"/>
          <p:cNvSpPr/>
          <p:nvPr/>
        </p:nvSpPr>
        <p:spPr>
          <a:xfrm>
            <a:off x="841248" y="3090672"/>
            <a:ext cx="580644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1220"/>
                </a:solidFill>
              </a:rPr>
              <a:t>Dashboard walkthrough, migration lifecycle and AI-assisted conversion framework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841248" y="3785616"/>
            <a:ext cx="4224528" cy="384048"/>
          </a:xfrm>
          <a:prstGeom prst="roundRect">
            <a:avLst>
              <a:gd name="adj" fmla="val 9524"/>
            </a:avLst>
          </a:prstGeom>
          <a:solidFill>
            <a:srgbClr val="FFF7ED"/>
          </a:solidFill>
          <a:ln w="8890">
            <a:solidFill>
              <a:srgbClr val="FDBA7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0"/>
          <p:cNvSpPr/>
          <p:nvPr/>
        </p:nvSpPr>
        <p:spPr>
          <a:xfrm>
            <a:off x="987552" y="3913632"/>
            <a:ext cx="39136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101828"/>
                </a:solidFill>
              </a:rPr>
              <a:t>Assessment • Conversion • Migration • Validation</a:t>
            </a:r>
            <a:endParaRPr lang="en-US" sz="830" dirty="0"/>
          </a:p>
        </p:txBody>
      </p:sp>
      <p:sp>
        <p:nvSpPr>
          <p:cNvPr id="15" name="Text 11"/>
          <p:cNvSpPr/>
          <p:nvPr/>
        </p:nvSpPr>
        <p:spPr>
          <a:xfrm>
            <a:off x="841248" y="444398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1F2937"/>
                </a:solidFill>
              </a:rPr>
              <a:t>DXC Internal | July 2026</a:t>
            </a:r>
            <a:endParaRPr lang="en-US" sz="920" dirty="0"/>
          </a:p>
        </p:txBody>
      </p:sp>
      <p:sp>
        <p:nvSpPr>
          <p:cNvPr id="16" name="Shape 12"/>
          <p:cNvSpPr/>
          <p:nvPr/>
        </p:nvSpPr>
        <p:spPr>
          <a:xfrm>
            <a:off x="7882128" y="1243584"/>
            <a:ext cx="3520440" cy="3703320"/>
          </a:xfrm>
          <a:prstGeom prst="roundRect">
            <a:avLst>
              <a:gd name="adj" fmla="val 2078"/>
            </a:avLst>
          </a:prstGeom>
          <a:solidFill>
            <a:srgbClr val="101828">
              <a:alpha val="96000"/>
            </a:srgbClr>
          </a:solidFill>
          <a:ln w="12700">
            <a:solidFill>
              <a:srgbClr val="101828"/>
            </a:solidFill>
            <a:prstDash val="solid"/>
          </a:ln>
          <a:effectLst>
            <a:outerShdw blurRad="13970" dist="889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3"/>
          <p:cNvSpPr/>
          <p:nvPr/>
        </p:nvSpPr>
        <p:spPr>
          <a:xfrm>
            <a:off x="8183880" y="1627632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MIGRATION VALUE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8193024" y="2112264"/>
            <a:ext cx="310896" cy="310896"/>
          </a:xfrm>
          <a:prstGeom prst="ellipse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5"/>
          <p:cNvSpPr/>
          <p:nvPr/>
        </p:nvSpPr>
        <p:spPr>
          <a:xfrm>
            <a:off x="8261604" y="2208276"/>
            <a:ext cx="18288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90" b="1" dirty="0">
                <a:solidFill>
                  <a:srgbClr val="FFFFFF"/>
                </a:solidFill>
              </a:rPr>
              <a:t>01</a:t>
            </a:r>
            <a:endParaRPr lang="en-US" sz="490" dirty="0"/>
          </a:p>
        </p:txBody>
      </p:sp>
      <p:sp>
        <p:nvSpPr>
          <p:cNvPr id="20" name="Text 16"/>
          <p:cNvSpPr/>
          <p:nvPr/>
        </p:nvSpPr>
        <p:spPr>
          <a:xfrm>
            <a:off x="8650224" y="2139696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FFFFFF"/>
                </a:solidFill>
              </a:rPr>
              <a:t>AI-driven assessment</a:t>
            </a:r>
            <a:endParaRPr lang="en-US" sz="820" dirty="0"/>
          </a:p>
        </p:txBody>
      </p:sp>
      <p:sp>
        <p:nvSpPr>
          <p:cNvPr id="21" name="Shape 17"/>
          <p:cNvSpPr/>
          <p:nvPr/>
        </p:nvSpPr>
        <p:spPr>
          <a:xfrm>
            <a:off x="8193024" y="2688336"/>
            <a:ext cx="310896" cy="310896"/>
          </a:xfrm>
          <a:prstGeom prst="ellipse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8"/>
          <p:cNvSpPr/>
          <p:nvPr/>
        </p:nvSpPr>
        <p:spPr>
          <a:xfrm>
            <a:off x="8261604" y="2784348"/>
            <a:ext cx="18288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90" b="1" dirty="0">
                <a:solidFill>
                  <a:srgbClr val="FFFFFF"/>
                </a:solidFill>
              </a:rPr>
              <a:t>02</a:t>
            </a:r>
            <a:endParaRPr lang="en-US" sz="490" dirty="0"/>
          </a:p>
        </p:txBody>
      </p:sp>
      <p:sp>
        <p:nvSpPr>
          <p:cNvPr id="23" name="Text 19"/>
          <p:cNvSpPr/>
          <p:nvPr/>
        </p:nvSpPr>
        <p:spPr>
          <a:xfrm>
            <a:off x="8650224" y="2715768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FFFFFF"/>
                </a:solidFill>
              </a:rPr>
              <a:t>Dependency-aware discovery</a:t>
            </a:r>
            <a:endParaRPr lang="en-US" sz="820" dirty="0"/>
          </a:p>
        </p:txBody>
      </p:sp>
      <p:sp>
        <p:nvSpPr>
          <p:cNvPr id="24" name="Shape 20"/>
          <p:cNvSpPr/>
          <p:nvPr/>
        </p:nvSpPr>
        <p:spPr>
          <a:xfrm>
            <a:off x="8193024" y="3264408"/>
            <a:ext cx="310896" cy="310896"/>
          </a:xfrm>
          <a:prstGeom prst="ellipse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1"/>
          <p:cNvSpPr/>
          <p:nvPr/>
        </p:nvSpPr>
        <p:spPr>
          <a:xfrm>
            <a:off x="8261604" y="3360420"/>
            <a:ext cx="18288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90" b="1" dirty="0">
                <a:solidFill>
                  <a:srgbClr val="FFFFFF"/>
                </a:solidFill>
              </a:rPr>
              <a:t>03</a:t>
            </a:r>
            <a:endParaRPr lang="en-US" sz="490" dirty="0"/>
          </a:p>
        </p:txBody>
      </p:sp>
      <p:sp>
        <p:nvSpPr>
          <p:cNvPr id="26" name="Text 22"/>
          <p:cNvSpPr/>
          <p:nvPr/>
        </p:nvSpPr>
        <p:spPr>
          <a:xfrm>
            <a:off x="8650224" y="3291840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FFFFFF"/>
                </a:solidFill>
              </a:rPr>
              <a:t>Controlled schema conversion</a:t>
            </a:r>
            <a:endParaRPr lang="en-US" sz="820" dirty="0"/>
          </a:p>
        </p:txBody>
      </p:sp>
      <p:sp>
        <p:nvSpPr>
          <p:cNvPr id="27" name="Shape 23"/>
          <p:cNvSpPr/>
          <p:nvPr/>
        </p:nvSpPr>
        <p:spPr>
          <a:xfrm>
            <a:off x="8193024" y="3840480"/>
            <a:ext cx="310896" cy="310896"/>
          </a:xfrm>
          <a:prstGeom prst="ellipse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4"/>
          <p:cNvSpPr/>
          <p:nvPr/>
        </p:nvSpPr>
        <p:spPr>
          <a:xfrm>
            <a:off x="8261604" y="3936492"/>
            <a:ext cx="18288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90" b="1" dirty="0">
                <a:solidFill>
                  <a:srgbClr val="FFFFFF"/>
                </a:solidFill>
              </a:rPr>
              <a:t>04</a:t>
            </a:r>
            <a:endParaRPr lang="en-US" sz="490" dirty="0"/>
          </a:p>
        </p:txBody>
      </p:sp>
      <p:sp>
        <p:nvSpPr>
          <p:cNvPr id="29" name="Text 25"/>
          <p:cNvSpPr/>
          <p:nvPr/>
        </p:nvSpPr>
        <p:spPr>
          <a:xfrm>
            <a:off x="8650224" y="3867912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FFFFFF"/>
                </a:solidFill>
              </a:rPr>
              <a:t>Validation and reporting</a:t>
            </a:r>
            <a:endParaRPr lang="en-US" sz="820" dirty="0"/>
          </a:p>
        </p:txBody>
      </p:sp>
      <p:sp>
        <p:nvSpPr>
          <p:cNvPr id="30" name="Text 26"/>
          <p:cNvSpPr/>
          <p:nvPr/>
        </p:nvSpPr>
        <p:spPr>
          <a:xfrm>
            <a:off x="8183880" y="4553712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E5E7EB"/>
                </a:solidFill>
              </a:rPr>
              <a:t>Prepared for stakeholder review</a:t>
            </a:r>
            <a:endParaRPr lang="en-US" sz="820" dirty="0"/>
          </a:p>
        </p:txBody>
      </p:sp>
      <p:sp>
        <p:nvSpPr>
          <p:cNvPr id="31" name="Text 27"/>
          <p:cNvSpPr/>
          <p:nvPr/>
        </p:nvSpPr>
        <p:spPr>
          <a:xfrm>
            <a:off x="621792" y="6364224"/>
            <a:ext cx="3840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2D2D2D"/>
                </a:solidFill>
              </a:rPr>
              <a:t>DXC Internal © 2026 DXC Technology Company. All rights reserved.</a:t>
            </a:r>
            <a:endParaRPr lang="en-US" sz="570" dirty="0"/>
          </a:p>
        </p:txBody>
      </p:sp>
      <p:sp>
        <p:nvSpPr>
          <p:cNvPr id="32" name="Text 28"/>
          <p:cNvSpPr/>
          <p:nvPr/>
        </p:nvSpPr>
        <p:spPr>
          <a:xfrm>
            <a:off x="11631168" y="310896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475467"/>
                </a:solidFill>
              </a:rPr>
              <a:t>1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0A66C2"/>
          </a:solidFill>
          <a:ln w="12700">
            <a:solidFill>
              <a:srgbClr val="0A66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/mnt/data/ppt_work/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" y="128016"/>
            <a:ext cx="658368" cy="1097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31089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0A66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120" dirty="0"/>
          </a:p>
        </p:txBody>
      </p:sp>
      <p:sp>
        <p:nvSpPr>
          <p:cNvPr id="6" name="Text 3"/>
          <p:cNvSpPr/>
          <p:nvPr/>
        </p:nvSpPr>
        <p:spPr>
          <a:xfrm>
            <a:off x="320040" y="493776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 FLOW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329184" y="841248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Concise walkthrough for stakeholders and implementation teams</a:t>
            </a:r>
            <a:endParaRPr lang="en-US" sz="1120" dirty="0"/>
          </a:p>
        </p:txBody>
      </p:sp>
      <p:sp>
        <p:nvSpPr>
          <p:cNvPr id="8" name="Shape 5"/>
          <p:cNvSpPr/>
          <p:nvPr/>
        </p:nvSpPr>
        <p:spPr>
          <a:xfrm>
            <a:off x="320040" y="6528816"/>
            <a:ext cx="11521440" cy="0"/>
          </a:xfrm>
          <a:prstGeom prst="line">
            <a:avLst/>
          </a:prstGeom>
          <a:noFill/>
          <a:ln w="1016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8595360" y="6620256"/>
            <a:ext cx="3108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6B7280"/>
                </a:solidFill>
              </a:rPr>
              <a:t>DXC Internal © 2026 DXC Technology Company. All rights reserved.</a:t>
            </a:r>
            <a:endParaRPr lang="en-US" sz="760" dirty="0"/>
          </a:p>
        </p:txBody>
      </p:sp>
      <p:sp>
        <p:nvSpPr>
          <p:cNvPr id="10" name="Text 7"/>
          <p:cNvSpPr/>
          <p:nvPr/>
        </p:nvSpPr>
        <p:spPr>
          <a:xfrm>
            <a:off x="11631168" y="164592"/>
            <a:ext cx="182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20" dirty="0">
                <a:solidFill>
                  <a:srgbClr val="475467"/>
                </a:solidFill>
              </a:rPr>
              <a:t>2</a:t>
            </a:r>
            <a:endParaRPr lang="en-US" sz="1120" dirty="0"/>
          </a:p>
        </p:txBody>
      </p:sp>
      <p:sp>
        <p:nvSpPr>
          <p:cNvPr id="11" name="Shape 8"/>
          <p:cNvSpPr/>
          <p:nvPr/>
        </p:nvSpPr>
        <p:spPr>
          <a:xfrm>
            <a:off x="960120" y="1975104"/>
            <a:ext cx="1444752" cy="1444752"/>
          </a:xfrm>
          <a:prstGeom prst="arc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804672" y="1810512"/>
            <a:ext cx="1792224" cy="1792224"/>
          </a:xfrm>
          <a:prstGeom prst="arc">
            <a:avLst/>
          </a:prstGeom>
          <a:noFill/>
          <a:ln w="15240">
            <a:solidFill>
              <a:srgbClr val="F26522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4224528" y="146304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26522"/>
                </a:solidFill>
              </a:rPr>
              <a:t>1</a:t>
            </a:r>
            <a:endParaRPr lang="en-US" sz="860" dirty="0"/>
          </a:p>
        </p:txBody>
      </p:sp>
      <p:sp>
        <p:nvSpPr>
          <p:cNvPr id="14" name="Shape 11"/>
          <p:cNvSpPr/>
          <p:nvPr/>
        </p:nvSpPr>
        <p:spPr>
          <a:xfrm>
            <a:off x="4736592" y="1545336"/>
            <a:ext cx="5413248" cy="0"/>
          </a:xfrm>
          <a:prstGeom prst="line">
            <a:avLst/>
          </a:prstGeom>
          <a:noFill/>
          <a:ln w="8890">
            <a:solidFill>
              <a:srgbClr val="CFC7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4892040" y="141732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01828"/>
                </a:solidFill>
              </a:rPr>
              <a:t>Overview &amp; Scope</a:t>
            </a:r>
            <a:endParaRPr lang="en-US" sz="1120" dirty="0"/>
          </a:p>
        </p:txBody>
      </p:sp>
      <p:sp>
        <p:nvSpPr>
          <p:cNvPr id="16" name="Text 13"/>
          <p:cNvSpPr/>
          <p:nvPr/>
        </p:nvSpPr>
        <p:spPr>
          <a:xfrm>
            <a:off x="4224528" y="2121408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26522"/>
                </a:solidFill>
              </a:rPr>
              <a:t>2</a:t>
            </a:r>
            <a:endParaRPr lang="en-US" sz="860" dirty="0"/>
          </a:p>
        </p:txBody>
      </p:sp>
      <p:sp>
        <p:nvSpPr>
          <p:cNvPr id="17" name="Shape 14"/>
          <p:cNvSpPr/>
          <p:nvPr/>
        </p:nvSpPr>
        <p:spPr>
          <a:xfrm>
            <a:off x="4736592" y="2203704"/>
            <a:ext cx="5413248" cy="0"/>
          </a:xfrm>
          <a:prstGeom prst="line">
            <a:avLst/>
          </a:prstGeom>
          <a:noFill/>
          <a:ln w="8890">
            <a:solidFill>
              <a:srgbClr val="CFC7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4892040" y="207568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01828"/>
                </a:solidFill>
              </a:rPr>
              <a:t>Dashboard and Connection Setup</a:t>
            </a:r>
            <a:endParaRPr lang="en-US" sz="1120" dirty="0"/>
          </a:p>
        </p:txBody>
      </p:sp>
      <p:sp>
        <p:nvSpPr>
          <p:cNvPr id="19" name="Text 16"/>
          <p:cNvSpPr/>
          <p:nvPr/>
        </p:nvSpPr>
        <p:spPr>
          <a:xfrm>
            <a:off x="4224528" y="2779776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26522"/>
                </a:solidFill>
              </a:rPr>
              <a:t>3</a:t>
            </a:r>
            <a:endParaRPr lang="en-US" sz="860" dirty="0"/>
          </a:p>
        </p:txBody>
      </p:sp>
      <p:sp>
        <p:nvSpPr>
          <p:cNvPr id="20" name="Shape 17"/>
          <p:cNvSpPr/>
          <p:nvPr/>
        </p:nvSpPr>
        <p:spPr>
          <a:xfrm>
            <a:off x="4736592" y="2862072"/>
            <a:ext cx="5413248" cy="0"/>
          </a:xfrm>
          <a:prstGeom prst="line">
            <a:avLst/>
          </a:prstGeom>
          <a:noFill/>
          <a:ln w="8890">
            <a:solidFill>
              <a:srgbClr val="CFC7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4892040" y="2734056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01828"/>
                </a:solidFill>
              </a:rPr>
              <a:t>AI Model Provider Configuration</a:t>
            </a:r>
            <a:endParaRPr lang="en-US" sz="1120" dirty="0"/>
          </a:p>
        </p:txBody>
      </p:sp>
      <p:sp>
        <p:nvSpPr>
          <p:cNvPr id="22" name="Text 19"/>
          <p:cNvSpPr/>
          <p:nvPr/>
        </p:nvSpPr>
        <p:spPr>
          <a:xfrm>
            <a:off x="4224528" y="343814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26522"/>
                </a:solidFill>
              </a:rPr>
              <a:t>4</a:t>
            </a:r>
            <a:endParaRPr lang="en-US" sz="860" dirty="0"/>
          </a:p>
        </p:txBody>
      </p:sp>
      <p:sp>
        <p:nvSpPr>
          <p:cNvPr id="23" name="Shape 20"/>
          <p:cNvSpPr/>
          <p:nvPr/>
        </p:nvSpPr>
        <p:spPr>
          <a:xfrm>
            <a:off x="4736592" y="3520440"/>
            <a:ext cx="5413248" cy="0"/>
          </a:xfrm>
          <a:prstGeom prst="line">
            <a:avLst/>
          </a:prstGeom>
          <a:noFill/>
          <a:ln w="8890">
            <a:solidFill>
              <a:srgbClr val="CFC7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4892040" y="3392424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01828"/>
                </a:solidFill>
              </a:rPr>
              <a:t>Discovery, Selection &amp; Assessment Logic</a:t>
            </a:r>
            <a:endParaRPr lang="en-US" sz="1120" dirty="0"/>
          </a:p>
        </p:txBody>
      </p:sp>
      <p:sp>
        <p:nvSpPr>
          <p:cNvPr id="25" name="Text 22"/>
          <p:cNvSpPr/>
          <p:nvPr/>
        </p:nvSpPr>
        <p:spPr>
          <a:xfrm>
            <a:off x="4224528" y="409651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26522"/>
                </a:solidFill>
              </a:rPr>
              <a:t>5</a:t>
            </a:r>
            <a:endParaRPr lang="en-US" sz="860" dirty="0"/>
          </a:p>
        </p:txBody>
      </p:sp>
      <p:sp>
        <p:nvSpPr>
          <p:cNvPr id="26" name="Shape 23"/>
          <p:cNvSpPr/>
          <p:nvPr/>
        </p:nvSpPr>
        <p:spPr>
          <a:xfrm>
            <a:off x="4736592" y="4178808"/>
            <a:ext cx="5413248" cy="0"/>
          </a:xfrm>
          <a:prstGeom prst="line">
            <a:avLst/>
          </a:prstGeom>
          <a:noFill/>
          <a:ln w="8890">
            <a:solidFill>
              <a:srgbClr val="CFC7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4892040" y="405079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01828"/>
                </a:solidFill>
              </a:rPr>
              <a:t>Schema Conversion and Data Type Mapping</a:t>
            </a:r>
            <a:endParaRPr lang="en-US" sz="1120" dirty="0"/>
          </a:p>
        </p:txBody>
      </p:sp>
      <p:sp>
        <p:nvSpPr>
          <p:cNvPr id="28" name="Text 25"/>
          <p:cNvSpPr/>
          <p:nvPr/>
        </p:nvSpPr>
        <p:spPr>
          <a:xfrm>
            <a:off x="4224528" y="475488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26522"/>
                </a:solidFill>
              </a:rPr>
              <a:t>6</a:t>
            </a:r>
            <a:endParaRPr lang="en-US" sz="860" dirty="0"/>
          </a:p>
        </p:txBody>
      </p:sp>
      <p:sp>
        <p:nvSpPr>
          <p:cNvPr id="29" name="Shape 26"/>
          <p:cNvSpPr/>
          <p:nvPr/>
        </p:nvSpPr>
        <p:spPr>
          <a:xfrm>
            <a:off x="4736592" y="4837176"/>
            <a:ext cx="5413248" cy="0"/>
          </a:xfrm>
          <a:prstGeom prst="line">
            <a:avLst/>
          </a:prstGeom>
          <a:noFill/>
          <a:ln w="8890">
            <a:solidFill>
              <a:srgbClr val="CFC7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4892040" y="470916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01828"/>
                </a:solidFill>
              </a:rPr>
              <a:t>Migration, Validation, Reporting &amp; Next Steps</a:t>
            </a:r>
            <a:endParaRPr lang="en-US" sz="11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0A66C2"/>
          </a:solidFill>
          <a:ln w="12700">
            <a:solidFill>
              <a:srgbClr val="0A66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/mnt/data/ppt_work/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" y="128016"/>
            <a:ext cx="658368" cy="1097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31089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0A66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120" dirty="0"/>
          </a:p>
        </p:txBody>
      </p:sp>
      <p:sp>
        <p:nvSpPr>
          <p:cNvPr id="6" name="Text 3"/>
          <p:cNvSpPr/>
          <p:nvPr/>
        </p:nvSpPr>
        <p:spPr>
          <a:xfrm>
            <a:off x="320040" y="493776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329184" y="841248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 modernization workflow from Oracle source to PostgreSQL target</a:t>
            </a:r>
            <a:endParaRPr lang="en-US" sz="1120" dirty="0"/>
          </a:p>
        </p:txBody>
      </p:sp>
      <p:sp>
        <p:nvSpPr>
          <p:cNvPr id="8" name="Shape 5"/>
          <p:cNvSpPr/>
          <p:nvPr/>
        </p:nvSpPr>
        <p:spPr>
          <a:xfrm>
            <a:off x="320040" y="6528816"/>
            <a:ext cx="11521440" cy="0"/>
          </a:xfrm>
          <a:prstGeom prst="line">
            <a:avLst/>
          </a:prstGeom>
          <a:noFill/>
          <a:ln w="1016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8595360" y="6620256"/>
            <a:ext cx="3108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6B7280"/>
                </a:solidFill>
              </a:rPr>
              <a:t>DXC Internal © 2026 DXC Technology Company. All rights reserved.</a:t>
            </a:r>
            <a:endParaRPr lang="en-US" sz="760" dirty="0"/>
          </a:p>
        </p:txBody>
      </p:sp>
      <p:sp>
        <p:nvSpPr>
          <p:cNvPr id="10" name="Text 7"/>
          <p:cNvSpPr/>
          <p:nvPr/>
        </p:nvSpPr>
        <p:spPr>
          <a:xfrm>
            <a:off x="11631168" y="164592"/>
            <a:ext cx="182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20" dirty="0">
                <a:solidFill>
                  <a:srgbClr val="475467"/>
                </a:solidFill>
              </a:rPr>
              <a:t>3</a:t>
            </a:r>
            <a:endParaRPr lang="en-US" sz="1120" dirty="0"/>
          </a:p>
        </p:txBody>
      </p:sp>
      <p:sp>
        <p:nvSpPr>
          <p:cNvPr id="11" name="Shape 8"/>
          <p:cNvSpPr/>
          <p:nvPr/>
        </p:nvSpPr>
        <p:spPr>
          <a:xfrm>
            <a:off x="530352" y="1536192"/>
            <a:ext cx="342900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7620">
            <a:solidFill>
              <a:srgbClr val="D9D1CE"/>
            </a:solidFill>
            <a:prstDash val="solid"/>
          </a:ln>
          <a:effectLst>
            <a:outerShdw blurRad="15240" dist="1143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612648" y="1645920"/>
            <a:ext cx="45720" cy="713232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786384" y="1673352"/>
            <a:ext cx="3081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01828"/>
                </a:solidFill>
              </a:rPr>
              <a:t>Business objective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86384" y="1975104"/>
            <a:ext cx="3044952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560" dirty="0">
                <a:solidFill>
                  <a:srgbClr val="0B1220"/>
                </a:solidFill>
              </a:rPr>
              <a:t>Accelerate Oracle to PostgreSQL migration through guided discovery, AI assessment, conversion support, migration execution and validation.</a:t>
            </a:r>
            <a:endParaRPr lang="en-US" sz="560" dirty="0"/>
          </a:p>
        </p:txBody>
      </p:sp>
      <p:sp>
        <p:nvSpPr>
          <p:cNvPr id="15" name="Shape 12"/>
          <p:cNvSpPr/>
          <p:nvPr/>
        </p:nvSpPr>
        <p:spPr>
          <a:xfrm>
            <a:off x="4343400" y="1536192"/>
            <a:ext cx="342900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7620">
            <a:solidFill>
              <a:srgbClr val="D9D1CE"/>
            </a:solidFill>
            <a:prstDash val="solid"/>
          </a:ln>
          <a:effectLst>
            <a:outerShdw blurRad="15240" dist="1143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4425696" y="1645920"/>
            <a:ext cx="45720" cy="713232"/>
          </a:xfrm>
          <a:prstGeom prst="rect">
            <a:avLst/>
          </a:prstGeom>
          <a:solidFill>
            <a:srgbClr val="0A66C2"/>
          </a:solidFill>
          <a:ln w="12700">
            <a:solidFill>
              <a:srgbClr val="0A66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4599432" y="1673352"/>
            <a:ext cx="3081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01828"/>
                </a:solidFill>
              </a:rPr>
              <a:t>Tool capability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599432" y="1975104"/>
            <a:ext cx="3044952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560" dirty="0">
                <a:solidFill>
                  <a:srgbClr val="0B1220"/>
                </a:solidFill>
              </a:rPr>
              <a:t>Supports connection setup, dependency-aware object selection, AI configuration, schema conversion, mapping reports and history views.</a:t>
            </a:r>
            <a:endParaRPr lang="en-US" sz="560" dirty="0"/>
          </a:p>
        </p:txBody>
      </p:sp>
      <p:sp>
        <p:nvSpPr>
          <p:cNvPr id="19" name="Shape 16"/>
          <p:cNvSpPr/>
          <p:nvPr/>
        </p:nvSpPr>
        <p:spPr>
          <a:xfrm>
            <a:off x="8156448" y="1536192"/>
            <a:ext cx="342900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7620">
            <a:solidFill>
              <a:srgbClr val="D9D1CE"/>
            </a:solidFill>
            <a:prstDash val="solid"/>
          </a:ln>
          <a:effectLst>
            <a:outerShdw blurRad="15240" dist="1143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7"/>
          <p:cNvSpPr/>
          <p:nvPr/>
        </p:nvSpPr>
        <p:spPr>
          <a:xfrm>
            <a:off x="8238744" y="1645920"/>
            <a:ext cx="45720" cy="713232"/>
          </a:xfrm>
          <a:prstGeom prst="rect">
            <a:avLst/>
          </a:prstGeom>
          <a:solidFill>
            <a:srgbClr val="00A88E"/>
          </a:solidFill>
          <a:ln w="12700">
            <a:solidFill>
              <a:srgbClr val="00A8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8412480" y="1673352"/>
            <a:ext cx="3081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01828"/>
                </a:solidFill>
              </a:rPr>
              <a:t>Governance value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8412480" y="1975104"/>
            <a:ext cx="3044952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560" dirty="0">
                <a:solidFill>
                  <a:srgbClr val="0B1220"/>
                </a:solidFill>
              </a:rPr>
              <a:t>Provides audit-friendly logs, status reports, validation output and AI token usage visibility for project governance.</a:t>
            </a:r>
            <a:endParaRPr lang="en-US" sz="560" dirty="0"/>
          </a:p>
        </p:txBody>
      </p:sp>
      <p:sp>
        <p:nvSpPr>
          <p:cNvPr id="23" name="Shape 20"/>
          <p:cNvSpPr/>
          <p:nvPr/>
        </p:nvSpPr>
        <p:spPr>
          <a:xfrm>
            <a:off x="694944" y="2880360"/>
            <a:ext cx="10789920" cy="242316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7620">
            <a:solidFill>
              <a:srgbClr val="D9D1CE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4" name="Image 1" descr="/mnt/data/ppt_work/unzip/ppt/media/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4031" y="3035808"/>
            <a:ext cx="4119177" cy="205740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1234440" y="5440680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01828"/>
                </a:solidFill>
              </a:rPr>
              <a:t>End-to-end workflow: source discovery, AI readiness insights, controlled conversion and report-backed migration sign-off.</a:t>
            </a:r>
            <a:endParaRPr lang="en-US" sz="11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0A66C2"/>
          </a:solidFill>
          <a:ln w="12700">
            <a:solidFill>
              <a:srgbClr val="0A66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/mnt/data/ppt_work/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" y="128016"/>
            <a:ext cx="658368" cy="1097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31089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0A66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View</a:t>
            </a:r>
            <a:endParaRPr lang="en-US" sz="1120" dirty="0"/>
          </a:p>
        </p:txBody>
      </p:sp>
      <p:sp>
        <p:nvSpPr>
          <p:cNvPr id="6" name="Text 3"/>
          <p:cNvSpPr/>
          <p:nvPr/>
        </p:nvSpPr>
        <p:spPr>
          <a:xfrm>
            <a:off x="320040" y="493776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ARCHITECTURE AND AI INTEGRATION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329184" y="841248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Provider-flexible AI layer connected to the migration orchestration workflow</a:t>
            </a:r>
            <a:endParaRPr lang="en-US" sz="1120" dirty="0"/>
          </a:p>
        </p:txBody>
      </p:sp>
      <p:sp>
        <p:nvSpPr>
          <p:cNvPr id="8" name="Shape 5"/>
          <p:cNvSpPr/>
          <p:nvPr/>
        </p:nvSpPr>
        <p:spPr>
          <a:xfrm>
            <a:off x="320040" y="6528816"/>
            <a:ext cx="11521440" cy="0"/>
          </a:xfrm>
          <a:prstGeom prst="line">
            <a:avLst/>
          </a:prstGeom>
          <a:noFill/>
          <a:ln w="1016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8595360" y="6620256"/>
            <a:ext cx="3108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6B7280"/>
                </a:solidFill>
              </a:rPr>
              <a:t>DXC Internal © 2026 DXC Technology Company. All rights reserved.</a:t>
            </a:r>
            <a:endParaRPr lang="en-US" sz="760" dirty="0"/>
          </a:p>
        </p:txBody>
      </p:sp>
      <p:sp>
        <p:nvSpPr>
          <p:cNvPr id="10" name="Text 7"/>
          <p:cNvSpPr/>
          <p:nvPr/>
        </p:nvSpPr>
        <p:spPr>
          <a:xfrm>
            <a:off x="11631168" y="164592"/>
            <a:ext cx="182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20" dirty="0">
                <a:solidFill>
                  <a:srgbClr val="475467"/>
                </a:solidFill>
              </a:rPr>
              <a:t>4</a:t>
            </a:r>
            <a:endParaRPr lang="en-US" sz="1120" dirty="0"/>
          </a:p>
        </p:txBody>
      </p:sp>
      <p:sp>
        <p:nvSpPr>
          <p:cNvPr id="11" name="Shape 8"/>
          <p:cNvSpPr/>
          <p:nvPr/>
        </p:nvSpPr>
        <p:spPr>
          <a:xfrm>
            <a:off x="640080" y="182880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9D1CE"/>
            </a:solidFill>
            <a:prstDash val="solid"/>
          </a:ln>
          <a:effectLst>
            <a:outerShdw blurRad="15240" dist="1143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722376" y="1938528"/>
            <a:ext cx="45720" cy="694944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896112" y="1965960"/>
            <a:ext cx="1938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101828"/>
                </a:solidFill>
              </a:rPr>
              <a:t>Oracle Source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896112" y="2267712"/>
            <a:ext cx="1901952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530" dirty="0">
                <a:solidFill>
                  <a:srgbClr val="0B1220"/>
                </a:solidFill>
              </a:rPr>
              <a:t>Database metadata, schema objects, dependencies, PL/SQL and data type inventory</a:t>
            </a:r>
            <a:endParaRPr lang="en-US" sz="530" dirty="0"/>
          </a:p>
        </p:txBody>
      </p:sp>
      <p:sp>
        <p:nvSpPr>
          <p:cNvPr id="15" name="Shape 12"/>
          <p:cNvSpPr/>
          <p:nvPr/>
        </p:nvSpPr>
        <p:spPr>
          <a:xfrm>
            <a:off x="3054096" y="2139696"/>
            <a:ext cx="384048" cy="329184"/>
          </a:xfrm>
          <a:prstGeom prst="chevron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3474720" y="182880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9D1CE"/>
            </a:solidFill>
            <a:prstDash val="solid"/>
          </a:ln>
          <a:effectLst>
            <a:outerShdw blurRad="15240" dist="1143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4"/>
          <p:cNvSpPr/>
          <p:nvPr/>
        </p:nvSpPr>
        <p:spPr>
          <a:xfrm>
            <a:off x="3557016" y="1938528"/>
            <a:ext cx="45720" cy="694944"/>
          </a:xfrm>
          <a:prstGeom prst="rect">
            <a:avLst/>
          </a:prstGeom>
          <a:solidFill>
            <a:srgbClr val="0A66C2"/>
          </a:solidFill>
          <a:ln w="12700">
            <a:solidFill>
              <a:srgbClr val="0A66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3730752" y="1965960"/>
            <a:ext cx="1938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101828"/>
                </a:solidFill>
              </a:rPr>
              <a:t>Migration AI Studio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3730752" y="2267712"/>
            <a:ext cx="1901952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530" dirty="0">
                <a:solidFill>
                  <a:srgbClr val="0B1220"/>
                </a:solidFill>
              </a:rPr>
              <a:t>Configuration, discovery, assessment, conversion, migration, validation and reports</a:t>
            </a:r>
            <a:endParaRPr lang="en-US" sz="530" dirty="0"/>
          </a:p>
        </p:txBody>
      </p:sp>
      <p:sp>
        <p:nvSpPr>
          <p:cNvPr id="20" name="Shape 17"/>
          <p:cNvSpPr/>
          <p:nvPr/>
        </p:nvSpPr>
        <p:spPr>
          <a:xfrm>
            <a:off x="5888736" y="2139696"/>
            <a:ext cx="384048" cy="329184"/>
          </a:xfrm>
          <a:prstGeom prst="chevron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8"/>
          <p:cNvSpPr/>
          <p:nvPr/>
        </p:nvSpPr>
        <p:spPr>
          <a:xfrm>
            <a:off x="6309360" y="182880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9D1CE"/>
            </a:solidFill>
            <a:prstDash val="solid"/>
          </a:ln>
          <a:effectLst>
            <a:outerShdw blurRad="15240" dist="1143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19"/>
          <p:cNvSpPr/>
          <p:nvPr/>
        </p:nvSpPr>
        <p:spPr>
          <a:xfrm>
            <a:off x="6391656" y="1938528"/>
            <a:ext cx="45720" cy="694944"/>
          </a:xfrm>
          <a:prstGeom prst="rect">
            <a:avLst/>
          </a:prstGeom>
          <a:solidFill>
            <a:srgbClr val="00A88E"/>
          </a:solidFill>
          <a:ln w="12700">
            <a:solidFill>
              <a:srgbClr val="00A8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6565392" y="1965960"/>
            <a:ext cx="1938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101828"/>
                </a:solidFill>
              </a:rPr>
              <a:t>AI Model Providers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6565392" y="2267712"/>
            <a:ext cx="1901952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530" dirty="0">
                <a:solidFill>
                  <a:srgbClr val="0B1220"/>
                </a:solidFill>
              </a:rPr>
              <a:t>Azure OpenAI, AWS AI services, Google AI services or approved enterprise model endpoint</a:t>
            </a:r>
            <a:endParaRPr lang="en-US" sz="530" dirty="0"/>
          </a:p>
        </p:txBody>
      </p:sp>
      <p:sp>
        <p:nvSpPr>
          <p:cNvPr id="25" name="Shape 22"/>
          <p:cNvSpPr/>
          <p:nvPr/>
        </p:nvSpPr>
        <p:spPr>
          <a:xfrm>
            <a:off x="8723376" y="2139696"/>
            <a:ext cx="384048" cy="329184"/>
          </a:xfrm>
          <a:prstGeom prst="chevron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3"/>
          <p:cNvSpPr/>
          <p:nvPr/>
        </p:nvSpPr>
        <p:spPr>
          <a:xfrm>
            <a:off x="9144000" y="182880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9D1CE"/>
            </a:solidFill>
            <a:prstDash val="solid"/>
          </a:ln>
          <a:effectLst>
            <a:outerShdw blurRad="15240" dist="1143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4"/>
          <p:cNvSpPr/>
          <p:nvPr/>
        </p:nvSpPr>
        <p:spPr>
          <a:xfrm>
            <a:off x="9226296" y="1938528"/>
            <a:ext cx="45720" cy="694944"/>
          </a:xfrm>
          <a:prstGeom prst="rect">
            <a:avLst/>
          </a:prstGeom>
          <a:solidFill>
            <a:srgbClr val="FFB000"/>
          </a:solidFill>
          <a:ln w="12700">
            <a:solidFill>
              <a:srgbClr val="FFB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9400032" y="1965960"/>
            <a:ext cx="1938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101828"/>
                </a:solidFill>
              </a:rPr>
              <a:t>PostgreSQL Target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9400032" y="2267712"/>
            <a:ext cx="1901952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530" dirty="0">
                <a:solidFill>
                  <a:srgbClr val="0B1220"/>
                </a:solidFill>
              </a:rPr>
              <a:t>Converted schema, mapped data types and validated migrated data</a:t>
            </a:r>
            <a:endParaRPr lang="en-US" sz="530" dirty="0"/>
          </a:p>
        </p:txBody>
      </p:sp>
      <p:sp>
        <p:nvSpPr>
          <p:cNvPr id="30" name="Shape 27"/>
          <p:cNvSpPr/>
          <p:nvPr/>
        </p:nvSpPr>
        <p:spPr>
          <a:xfrm>
            <a:off x="1901952" y="4160520"/>
            <a:ext cx="8394192" cy="621792"/>
          </a:xfrm>
          <a:prstGeom prst="roundRect">
            <a:avLst>
              <a:gd name="adj" fmla="val 8824"/>
            </a:avLst>
          </a:prstGeom>
          <a:solidFill>
            <a:srgbClr val="FFF8F5"/>
          </a:solidFill>
          <a:ln w="8890">
            <a:solidFill>
              <a:srgbClr val="FBC4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8"/>
          <p:cNvSpPr/>
          <p:nvPr/>
        </p:nvSpPr>
        <p:spPr>
          <a:xfrm>
            <a:off x="2148840" y="4334256"/>
            <a:ext cx="7900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01828"/>
                </a:solidFill>
              </a:rPr>
              <a:t>The AI model layer is configurable, so the same migration workflow can use the approved provider available for each project.</a:t>
            </a:r>
            <a:endParaRPr lang="en-US" sz="1120" dirty="0"/>
          </a:p>
        </p:txBody>
      </p:sp>
      <p:sp>
        <p:nvSpPr>
          <p:cNvPr id="32" name="Text 29"/>
          <p:cNvSpPr/>
          <p:nvPr/>
        </p:nvSpPr>
        <p:spPr>
          <a:xfrm>
            <a:off x="2743200" y="5349240"/>
            <a:ext cx="6766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dirty="0">
                <a:solidFill>
                  <a:srgbClr val="0B1220"/>
                </a:solidFill>
              </a:rPr>
              <a:t>Connection → Discovery → AI Assessment → Conversion → Mapping → Migration → Validation → Reports</a:t>
            </a:r>
            <a:endParaRPr lang="en-US" sz="11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0A66C2"/>
          </a:solidFill>
          <a:ln w="12700">
            <a:solidFill>
              <a:srgbClr val="0A66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/mnt/data/ppt_work/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" y="128016"/>
            <a:ext cx="658368" cy="1097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31089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0A66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</a:t>
            </a:r>
            <a:endParaRPr lang="en-US" sz="1120" dirty="0"/>
          </a:p>
        </p:txBody>
      </p:sp>
      <p:sp>
        <p:nvSpPr>
          <p:cNvPr id="6" name="Text 3"/>
          <p:cNvSpPr/>
          <p:nvPr/>
        </p:nvSpPr>
        <p:spPr>
          <a:xfrm>
            <a:off x="320040" y="493776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MIGRATION LIFECYCLE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329184" y="841248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explanation of each migration phase from discovery to reporting</a:t>
            </a:r>
            <a:endParaRPr lang="en-US" sz="1120" dirty="0"/>
          </a:p>
        </p:txBody>
      </p:sp>
      <p:sp>
        <p:nvSpPr>
          <p:cNvPr id="8" name="Shape 5"/>
          <p:cNvSpPr/>
          <p:nvPr/>
        </p:nvSpPr>
        <p:spPr>
          <a:xfrm>
            <a:off x="320040" y="6528816"/>
            <a:ext cx="11521440" cy="0"/>
          </a:xfrm>
          <a:prstGeom prst="line">
            <a:avLst/>
          </a:prstGeom>
          <a:noFill/>
          <a:ln w="1016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8595360" y="6620256"/>
            <a:ext cx="3108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6B7280"/>
                </a:solidFill>
              </a:rPr>
              <a:t>DXC Internal © 2026 DXC Technology Company. All rights reserved.</a:t>
            </a:r>
            <a:endParaRPr lang="en-US" sz="760" dirty="0"/>
          </a:p>
        </p:txBody>
      </p:sp>
      <p:sp>
        <p:nvSpPr>
          <p:cNvPr id="10" name="Text 7"/>
          <p:cNvSpPr/>
          <p:nvPr/>
        </p:nvSpPr>
        <p:spPr>
          <a:xfrm>
            <a:off x="11631168" y="164592"/>
            <a:ext cx="182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20" dirty="0">
                <a:solidFill>
                  <a:srgbClr val="475467"/>
                </a:solidFill>
              </a:rPr>
              <a:t>5</a:t>
            </a:r>
            <a:endParaRPr lang="en-US" sz="1120" dirty="0"/>
          </a:p>
        </p:txBody>
      </p:sp>
      <p:sp>
        <p:nvSpPr>
          <p:cNvPr id="11" name="Shape 8"/>
          <p:cNvSpPr/>
          <p:nvPr/>
        </p:nvSpPr>
        <p:spPr>
          <a:xfrm>
            <a:off x="713232" y="1188720"/>
            <a:ext cx="10789920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2700" dist="5715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1051560" y="1362456"/>
            <a:ext cx="10104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01828"/>
                </a:solidFill>
              </a:rPr>
              <a:t>Lifecycle slide is simplified without screenshots, so the audience can quickly understand the migration journey.</a:t>
            </a:r>
            <a:endParaRPr lang="en-US" sz="920" dirty="0"/>
          </a:p>
        </p:txBody>
      </p:sp>
      <p:sp>
        <p:nvSpPr>
          <p:cNvPr id="13" name="Shape 10"/>
          <p:cNvSpPr/>
          <p:nvPr/>
        </p:nvSpPr>
        <p:spPr>
          <a:xfrm>
            <a:off x="640080" y="2084832"/>
            <a:ext cx="3438144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3970" dist="6985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640080" y="2084832"/>
            <a:ext cx="3438144" cy="91440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804672" y="2340864"/>
            <a:ext cx="420624" cy="420624"/>
          </a:xfrm>
          <a:prstGeom prst="ellipse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928116" y="2459736"/>
            <a:ext cx="164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</a:rPr>
              <a:t>1</a:t>
            </a:r>
            <a:endParaRPr lang="en-US" sz="720" dirty="0"/>
          </a:p>
        </p:txBody>
      </p:sp>
      <p:sp>
        <p:nvSpPr>
          <p:cNvPr id="17" name="Text 14"/>
          <p:cNvSpPr/>
          <p:nvPr/>
        </p:nvSpPr>
        <p:spPr>
          <a:xfrm>
            <a:off x="1353312" y="2313432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101828"/>
                </a:solidFill>
              </a:rPr>
              <a:t>Connect</a:t>
            </a:r>
            <a:endParaRPr lang="en-US" sz="1120" dirty="0"/>
          </a:p>
        </p:txBody>
      </p:sp>
      <p:sp>
        <p:nvSpPr>
          <p:cNvPr id="18" name="Text 15"/>
          <p:cNvSpPr/>
          <p:nvPr/>
        </p:nvSpPr>
        <p:spPr>
          <a:xfrm>
            <a:off x="1353312" y="2615184"/>
            <a:ext cx="2523744" cy="4937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0B1220"/>
                </a:solidFill>
              </a:rPr>
              <a:t>Configure Oracle source and PostgreSQL target details. Validate credentials, host, port and database access.</a:t>
            </a:r>
            <a:endParaRPr lang="en-US" sz="760" dirty="0"/>
          </a:p>
        </p:txBody>
      </p:sp>
      <p:sp>
        <p:nvSpPr>
          <p:cNvPr id="19" name="Shape 16"/>
          <p:cNvSpPr/>
          <p:nvPr/>
        </p:nvSpPr>
        <p:spPr>
          <a:xfrm>
            <a:off x="4151376" y="2560320"/>
            <a:ext cx="256032" cy="274320"/>
          </a:xfrm>
          <a:prstGeom prst="chevron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7"/>
          <p:cNvSpPr/>
          <p:nvPr/>
        </p:nvSpPr>
        <p:spPr>
          <a:xfrm>
            <a:off x="4462272" y="2084832"/>
            <a:ext cx="3438144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3970" dist="6985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8"/>
          <p:cNvSpPr/>
          <p:nvPr/>
        </p:nvSpPr>
        <p:spPr>
          <a:xfrm>
            <a:off x="4462272" y="2084832"/>
            <a:ext cx="3438144" cy="91440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19"/>
          <p:cNvSpPr/>
          <p:nvPr/>
        </p:nvSpPr>
        <p:spPr>
          <a:xfrm>
            <a:off x="4626864" y="2340864"/>
            <a:ext cx="420624" cy="420624"/>
          </a:xfrm>
          <a:prstGeom prst="ellipse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4750308" y="2459736"/>
            <a:ext cx="164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</a:rPr>
              <a:t>2</a:t>
            </a:r>
            <a:endParaRPr lang="en-US" sz="720" dirty="0"/>
          </a:p>
        </p:txBody>
      </p:sp>
      <p:sp>
        <p:nvSpPr>
          <p:cNvPr id="24" name="Text 21"/>
          <p:cNvSpPr/>
          <p:nvPr/>
        </p:nvSpPr>
        <p:spPr>
          <a:xfrm>
            <a:off x="5175504" y="2313432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101828"/>
                </a:solidFill>
              </a:rPr>
              <a:t>Discover</a:t>
            </a:r>
            <a:endParaRPr lang="en-US" sz="1120" dirty="0"/>
          </a:p>
        </p:txBody>
      </p:sp>
      <p:sp>
        <p:nvSpPr>
          <p:cNvPr id="25" name="Text 22"/>
          <p:cNvSpPr/>
          <p:nvPr/>
        </p:nvSpPr>
        <p:spPr>
          <a:xfrm>
            <a:off x="5175504" y="2615184"/>
            <a:ext cx="2523744" cy="4937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0B1220"/>
                </a:solidFill>
              </a:rPr>
              <a:t>Scan Oracle metadata, object inventory and dependencies across schemas, tables, packages and procedures.</a:t>
            </a:r>
            <a:endParaRPr lang="en-US" sz="760" dirty="0"/>
          </a:p>
        </p:txBody>
      </p:sp>
      <p:sp>
        <p:nvSpPr>
          <p:cNvPr id="26" name="Shape 23"/>
          <p:cNvSpPr/>
          <p:nvPr/>
        </p:nvSpPr>
        <p:spPr>
          <a:xfrm>
            <a:off x="7973568" y="2560320"/>
            <a:ext cx="256032" cy="274320"/>
          </a:xfrm>
          <a:prstGeom prst="chevron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4"/>
          <p:cNvSpPr/>
          <p:nvPr/>
        </p:nvSpPr>
        <p:spPr>
          <a:xfrm>
            <a:off x="8284464" y="2084832"/>
            <a:ext cx="3438144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3970" dist="6985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5"/>
          <p:cNvSpPr/>
          <p:nvPr/>
        </p:nvSpPr>
        <p:spPr>
          <a:xfrm>
            <a:off x="8284464" y="2084832"/>
            <a:ext cx="3438144" cy="91440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6"/>
          <p:cNvSpPr/>
          <p:nvPr/>
        </p:nvSpPr>
        <p:spPr>
          <a:xfrm>
            <a:off x="8449056" y="2340864"/>
            <a:ext cx="420624" cy="420624"/>
          </a:xfrm>
          <a:prstGeom prst="ellipse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8572500" y="2459736"/>
            <a:ext cx="164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</a:rPr>
              <a:t>3</a:t>
            </a:r>
            <a:endParaRPr lang="en-US" sz="720" dirty="0"/>
          </a:p>
        </p:txBody>
      </p:sp>
      <p:sp>
        <p:nvSpPr>
          <p:cNvPr id="31" name="Text 28"/>
          <p:cNvSpPr/>
          <p:nvPr/>
        </p:nvSpPr>
        <p:spPr>
          <a:xfrm>
            <a:off x="8997696" y="2313432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101828"/>
                </a:solidFill>
              </a:rPr>
              <a:t>Assess</a:t>
            </a:r>
            <a:endParaRPr lang="en-US" sz="1120" dirty="0"/>
          </a:p>
        </p:txBody>
      </p:sp>
      <p:sp>
        <p:nvSpPr>
          <p:cNvPr id="32" name="Text 29"/>
          <p:cNvSpPr/>
          <p:nvPr/>
        </p:nvSpPr>
        <p:spPr>
          <a:xfrm>
            <a:off x="8997696" y="2615184"/>
            <a:ext cx="2523744" cy="4937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0B1220"/>
                </a:solidFill>
              </a:rPr>
              <a:t>Run AI-assisted compatibility, complexity, dependency and datatype assessment before conversion.</a:t>
            </a:r>
            <a:endParaRPr lang="en-US" sz="760" dirty="0"/>
          </a:p>
        </p:txBody>
      </p:sp>
      <p:sp>
        <p:nvSpPr>
          <p:cNvPr id="33" name="Shape 30"/>
          <p:cNvSpPr/>
          <p:nvPr/>
        </p:nvSpPr>
        <p:spPr>
          <a:xfrm>
            <a:off x="9820656" y="3383280"/>
            <a:ext cx="365760" cy="329184"/>
          </a:xfrm>
          <a:prstGeom prst="down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1"/>
          <p:cNvSpPr/>
          <p:nvPr/>
        </p:nvSpPr>
        <p:spPr>
          <a:xfrm>
            <a:off x="640080" y="3767328"/>
            <a:ext cx="3438144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3970" dist="6985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32"/>
          <p:cNvSpPr/>
          <p:nvPr/>
        </p:nvSpPr>
        <p:spPr>
          <a:xfrm>
            <a:off x="640080" y="3767328"/>
            <a:ext cx="3438144" cy="91440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3"/>
          <p:cNvSpPr/>
          <p:nvPr/>
        </p:nvSpPr>
        <p:spPr>
          <a:xfrm>
            <a:off x="804672" y="4023360"/>
            <a:ext cx="420624" cy="420624"/>
          </a:xfrm>
          <a:prstGeom prst="ellipse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4"/>
          <p:cNvSpPr/>
          <p:nvPr/>
        </p:nvSpPr>
        <p:spPr>
          <a:xfrm>
            <a:off x="928116" y="4142232"/>
            <a:ext cx="164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</a:rPr>
              <a:t>4</a:t>
            </a:r>
            <a:endParaRPr lang="en-US" sz="720" dirty="0"/>
          </a:p>
        </p:txBody>
      </p:sp>
      <p:sp>
        <p:nvSpPr>
          <p:cNvPr id="38" name="Text 35"/>
          <p:cNvSpPr/>
          <p:nvPr/>
        </p:nvSpPr>
        <p:spPr>
          <a:xfrm>
            <a:off x="1353312" y="3995928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101828"/>
                </a:solidFill>
              </a:rPr>
              <a:t>Convert</a:t>
            </a:r>
            <a:endParaRPr lang="en-US" sz="1120" dirty="0"/>
          </a:p>
        </p:txBody>
      </p:sp>
      <p:sp>
        <p:nvSpPr>
          <p:cNvPr id="39" name="Text 36"/>
          <p:cNvSpPr/>
          <p:nvPr/>
        </p:nvSpPr>
        <p:spPr>
          <a:xfrm>
            <a:off x="1353312" y="4297680"/>
            <a:ext cx="2523744" cy="4937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0B1220"/>
                </a:solidFill>
              </a:rPr>
              <a:t>Generate PostgreSQL-ready DDL/code and review conversion rules, mappings and exceptions.</a:t>
            </a:r>
            <a:endParaRPr lang="en-US" sz="760" dirty="0"/>
          </a:p>
        </p:txBody>
      </p:sp>
      <p:sp>
        <p:nvSpPr>
          <p:cNvPr id="40" name="Shape 37"/>
          <p:cNvSpPr/>
          <p:nvPr/>
        </p:nvSpPr>
        <p:spPr>
          <a:xfrm>
            <a:off x="4462272" y="3767328"/>
            <a:ext cx="3438144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3970" dist="6985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Shape 38"/>
          <p:cNvSpPr/>
          <p:nvPr/>
        </p:nvSpPr>
        <p:spPr>
          <a:xfrm>
            <a:off x="4462272" y="3767328"/>
            <a:ext cx="3438144" cy="91440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39"/>
          <p:cNvSpPr/>
          <p:nvPr/>
        </p:nvSpPr>
        <p:spPr>
          <a:xfrm>
            <a:off x="4626864" y="4023360"/>
            <a:ext cx="420624" cy="420624"/>
          </a:xfrm>
          <a:prstGeom prst="ellipse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0"/>
          <p:cNvSpPr/>
          <p:nvPr/>
        </p:nvSpPr>
        <p:spPr>
          <a:xfrm>
            <a:off x="4750308" y="4142232"/>
            <a:ext cx="164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</a:rPr>
              <a:t>5</a:t>
            </a:r>
            <a:endParaRPr lang="en-US" sz="720" dirty="0"/>
          </a:p>
        </p:txBody>
      </p:sp>
      <p:sp>
        <p:nvSpPr>
          <p:cNvPr id="44" name="Text 41"/>
          <p:cNvSpPr/>
          <p:nvPr/>
        </p:nvSpPr>
        <p:spPr>
          <a:xfrm>
            <a:off x="5175504" y="3995928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101828"/>
                </a:solidFill>
              </a:rPr>
              <a:t>Migrate</a:t>
            </a:r>
            <a:endParaRPr lang="en-US" sz="1120" dirty="0"/>
          </a:p>
        </p:txBody>
      </p:sp>
      <p:sp>
        <p:nvSpPr>
          <p:cNvPr id="45" name="Text 42"/>
          <p:cNvSpPr/>
          <p:nvPr/>
        </p:nvSpPr>
        <p:spPr>
          <a:xfrm>
            <a:off x="5175504" y="4297680"/>
            <a:ext cx="2523744" cy="4937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0B1220"/>
                </a:solidFill>
              </a:rPr>
              <a:t>Execute schema and data migration in controlled phases with status and error tracking.</a:t>
            </a:r>
            <a:endParaRPr lang="en-US" sz="760" dirty="0"/>
          </a:p>
        </p:txBody>
      </p:sp>
      <p:sp>
        <p:nvSpPr>
          <p:cNvPr id="46" name="Shape 43"/>
          <p:cNvSpPr/>
          <p:nvPr/>
        </p:nvSpPr>
        <p:spPr>
          <a:xfrm rot="10800000">
            <a:off x="4151376" y="4242816"/>
            <a:ext cx="256032" cy="274320"/>
          </a:xfrm>
          <a:prstGeom prst="chevron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Shape 44"/>
          <p:cNvSpPr/>
          <p:nvPr/>
        </p:nvSpPr>
        <p:spPr>
          <a:xfrm>
            <a:off x="8284464" y="3767328"/>
            <a:ext cx="3438144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3970" dist="6985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8" name="Shape 45"/>
          <p:cNvSpPr/>
          <p:nvPr/>
        </p:nvSpPr>
        <p:spPr>
          <a:xfrm>
            <a:off x="8284464" y="3767328"/>
            <a:ext cx="3438144" cy="91440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Shape 46"/>
          <p:cNvSpPr/>
          <p:nvPr/>
        </p:nvSpPr>
        <p:spPr>
          <a:xfrm>
            <a:off x="8449056" y="4023360"/>
            <a:ext cx="420624" cy="420624"/>
          </a:xfrm>
          <a:prstGeom prst="ellipse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7"/>
          <p:cNvSpPr/>
          <p:nvPr/>
        </p:nvSpPr>
        <p:spPr>
          <a:xfrm>
            <a:off x="8572500" y="4142232"/>
            <a:ext cx="164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</a:rPr>
              <a:t>6</a:t>
            </a:r>
            <a:endParaRPr lang="en-US" sz="720" dirty="0"/>
          </a:p>
        </p:txBody>
      </p:sp>
      <p:sp>
        <p:nvSpPr>
          <p:cNvPr id="51" name="Text 48"/>
          <p:cNvSpPr/>
          <p:nvPr/>
        </p:nvSpPr>
        <p:spPr>
          <a:xfrm>
            <a:off x="8997696" y="3995928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101828"/>
                </a:solidFill>
              </a:rPr>
              <a:t>Validate &amp; Report</a:t>
            </a:r>
            <a:endParaRPr lang="en-US" sz="1120" dirty="0"/>
          </a:p>
        </p:txBody>
      </p:sp>
      <p:sp>
        <p:nvSpPr>
          <p:cNvPr id="52" name="Text 49"/>
          <p:cNvSpPr/>
          <p:nvPr/>
        </p:nvSpPr>
        <p:spPr>
          <a:xfrm>
            <a:off x="8997696" y="4297680"/>
            <a:ext cx="2523744" cy="4937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0B1220"/>
                </a:solidFill>
              </a:rPr>
              <a:t>Validate migrated objects/data, generate reports, capture history and prepare handover evidence.</a:t>
            </a:r>
            <a:endParaRPr lang="en-US" sz="760" dirty="0"/>
          </a:p>
        </p:txBody>
      </p:sp>
      <p:sp>
        <p:nvSpPr>
          <p:cNvPr id="53" name="Shape 50"/>
          <p:cNvSpPr/>
          <p:nvPr/>
        </p:nvSpPr>
        <p:spPr>
          <a:xfrm rot="10800000">
            <a:off x="7973568" y="4242816"/>
            <a:ext cx="256032" cy="274320"/>
          </a:xfrm>
          <a:prstGeom prst="chevron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Shape 51"/>
          <p:cNvSpPr/>
          <p:nvPr/>
        </p:nvSpPr>
        <p:spPr>
          <a:xfrm>
            <a:off x="1051560" y="5541264"/>
            <a:ext cx="10076688" cy="548640"/>
          </a:xfrm>
          <a:prstGeom prst="roundRect">
            <a:avLst>
              <a:gd name="adj" fmla="val 8333"/>
            </a:avLst>
          </a:prstGeom>
          <a:solidFill>
            <a:srgbClr val="FFF7ED"/>
          </a:solidFill>
          <a:ln w="10160">
            <a:solidFill>
              <a:srgbClr val="FDBA7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2"/>
          <p:cNvSpPr/>
          <p:nvPr/>
        </p:nvSpPr>
        <p:spPr>
          <a:xfrm>
            <a:off x="1298448" y="5705856"/>
            <a:ext cx="9582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101828"/>
                </a:solidFill>
              </a:rPr>
              <a:t>Control points: connection validation → assessment review → mapping approval → migration execution → validation sign-off → final report handover.</a:t>
            </a:r>
            <a:endParaRPr lang="en-US" sz="8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0A66C2"/>
          </a:solidFill>
          <a:ln w="12700">
            <a:solidFill>
              <a:srgbClr val="0A66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/mnt/data/ppt_work/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" y="128016"/>
            <a:ext cx="658368" cy="1097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31089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0A66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120" dirty="0"/>
          </a:p>
        </p:txBody>
      </p:sp>
      <p:sp>
        <p:nvSpPr>
          <p:cNvPr id="6" name="Text 3"/>
          <p:cNvSpPr/>
          <p:nvPr/>
        </p:nvSpPr>
        <p:spPr>
          <a:xfrm>
            <a:off x="320040" y="493776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 CONFIGURATION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329184" y="841248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Oracle source and PostgreSQL target connection validation</a:t>
            </a:r>
            <a:endParaRPr lang="en-US" sz="1120" dirty="0"/>
          </a:p>
        </p:txBody>
      </p:sp>
      <p:sp>
        <p:nvSpPr>
          <p:cNvPr id="8" name="Shape 5"/>
          <p:cNvSpPr/>
          <p:nvPr/>
        </p:nvSpPr>
        <p:spPr>
          <a:xfrm>
            <a:off x="320040" y="6528816"/>
            <a:ext cx="11521440" cy="0"/>
          </a:xfrm>
          <a:prstGeom prst="line">
            <a:avLst/>
          </a:prstGeom>
          <a:noFill/>
          <a:ln w="1016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8595360" y="6620256"/>
            <a:ext cx="3108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6B7280"/>
                </a:solidFill>
              </a:rPr>
              <a:t>DXC Internal © 2026 DXC Technology Company. All rights reserved.</a:t>
            </a:r>
            <a:endParaRPr lang="en-US" sz="760" dirty="0"/>
          </a:p>
        </p:txBody>
      </p:sp>
      <p:sp>
        <p:nvSpPr>
          <p:cNvPr id="10" name="Text 7"/>
          <p:cNvSpPr/>
          <p:nvPr/>
        </p:nvSpPr>
        <p:spPr>
          <a:xfrm>
            <a:off x="11631168" y="164592"/>
            <a:ext cx="182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20" dirty="0">
                <a:solidFill>
                  <a:srgbClr val="475467"/>
                </a:solidFill>
              </a:rPr>
              <a:t>6</a:t>
            </a:r>
            <a:endParaRPr lang="en-US" sz="1120" dirty="0"/>
          </a:p>
        </p:txBody>
      </p:sp>
      <p:sp>
        <p:nvSpPr>
          <p:cNvPr id="11" name="Shape 8"/>
          <p:cNvSpPr/>
          <p:nvPr/>
        </p:nvSpPr>
        <p:spPr>
          <a:xfrm>
            <a:off x="502920" y="1234440"/>
            <a:ext cx="5349240" cy="3364992"/>
          </a:xfrm>
          <a:prstGeom prst="roundRect">
            <a:avLst>
              <a:gd name="adj" fmla="val 1087"/>
            </a:avLst>
          </a:prstGeom>
          <a:solidFill>
            <a:srgbClr val="FFFFFF"/>
          </a:solidFill>
          <a:ln w="7620">
            <a:solidFill>
              <a:srgbClr val="D9D1CE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6336792" y="1234440"/>
            <a:ext cx="5349240" cy="3364992"/>
          </a:xfrm>
          <a:prstGeom prst="roundRect">
            <a:avLst>
              <a:gd name="adj" fmla="val 1087"/>
            </a:avLst>
          </a:prstGeom>
          <a:solidFill>
            <a:srgbClr val="FFFFFF"/>
          </a:solidFill>
          <a:ln w="7620">
            <a:solidFill>
              <a:srgbClr val="D9D1CE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3" name="Image 1" descr="/mnt/data/ppt_work/unzip/ppt/media/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1642684"/>
            <a:ext cx="5029200" cy="2511928"/>
          </a:xfrm>
          <a:prstGeom prst="rect">
            <a:avLst/>
          </a:prstGeom>
        </p:spPr>
      </p:pic>
      <p:pic>
        <p:nvPicPr>
          <p:cNvPr id="14" name="Image 2" descr="/mnt/data/ppt_work/unzip/ppt/media/image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1896501"/>
            <a:ext cx="5029200" cy="2004294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987552" y="4901184"/>
            <a:ext cx="10149840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7620">
            <a:solidFill>
              <a:srgbClr val="E1D8D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1"/>
          <p:cNvSpPr/>
          <p:nvPr/>
        </p:nvSpPr>
        <p:spPr>
          <a:xfrm>
            <a:off x="1225296" y="5074920"/>
            <a:ext cx="9646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101828"/>
                </a:solidFill>
              </a:rPr>
              <a:t>Validate source and target connectivity before discovery, conversion and migration execution.</a:t>
            </a:r>
            <a:endParaRPr lang="en-US" sz="86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0A66C2"/>
          </a:solidFill>
          <a:ln w="12700">
            <a:solidFill>
              <a:srgbClr val="0A66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/mnt/data/ppt_work/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" y="128016"/>
            <a:ext cx="658368" cy="1097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31089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0A66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Layer</a:t>
            </a:r>
            <a:endParaRPr lang="en-US" sz="1120" dirty="0"/>
          </a:p>
        </p:txBody>
      </p:sp>
      <p:sp>
        <p:nvSpPr>
          <p:cNvPr id="6" name="Text 3"/>
          <p:cNvSpPr/>
          <p:nvPr/>
        </p:nvSpPr>
        <p:spPr>
          <a:xfrm>
            <a:off x="320040" y="493776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PROVIDER CONFIGURATION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329184" y="841248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can be loaded using .env or entered manually</a:t>
            </a:r>
            <a:endParaRPr lang="en-US" sz="1120" dirty="0"/>
          </a:p>
        </p:txBody>
      </p:sp>
      <p:sp>
        <p:nvSpPr>
          <p:cNvPr id="8" name="Shape 5"/>
          <p:cNvSpPr/>
          <p:nvPr/>
        </p:nvSpPr>
        <p:spPr>
          <a:xfrm>
            <a:off x="320040" y="6528816"/>
            <a:ext cx="11521440" cy="0"/>
          </a:xfrm>
          <a:prstGeom prst="line">
            <a:avLst/>
          </a:prstGeom>
          <a:noFill/>
          <a:ln w="1016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8595360" y="6620256"/>
            <a:ext cx="3108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6B7280"/>
                </a:solidFill>
              </a:rPr>
              <a:t>DXC Internal © 2026 DXC Technology Company. All rights reserved.</a:t>
            </a:r>
            <a:endParaRPr lang="en-US" sz="760" dirty="0"/>
          </a:p>
        </p:txBody>
      </p:sp>
      <p:sp>
        <p:nvSpPr>
          <p:cNvPr id="10" name="Text 7"/>
          <p:cNvSpPr/>
          <p:nvPr/>
        </p:nvSpPr>
        <p:spPr>
          <a:xfrm>
            <a:off x="11631168" y="164592"/>
            <a:ext cx="182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20" dirty="0">
                <a:solidFill>
                  <a:srgbClr val="475467"/>
                </a:solidFill>
              </a:rPr>
              <a:t>7</a:t>
            </a:r>
            <a:endParaRPr lang="en-US" sz="1120" dirty="0"/>
          </a:p>
        </p:txBody>
      </p:sp>
      <p:sp>
        <p:nvSpPr>
          <p:cNvPr id="11" name="Shape 8"/>
          <p:cNvSpPr/>
          <p:nvPr/>
        </p:nvSpPr>
        <p:spPr>
          <a:xfrm>
            <a:off x="502920" y="1234440"/>
            <a:ext cx="5349240" cy="3364992"/>
          </a:xfrm>
          <a:prstGeom prst="roundRect">
            <a:avLst>
              <a:gd name="adj" fmla="val 1087"/>
            </a:avLst>
          </a:prstGeom>
          <a:solidFill>
            <a:srgbClr val="FFFFFF"/>
          </a:solidFill>
          <a:ln w="7620">
            <a:solidFill>
              <a:srgbClr val="D9D1CE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6336792" y="1234440"/>
            <a:ext cx="5349240" cy="3364992"/>
          </a:xfrm>
          <a:prstGeom prst="roundRect">
            <a:avLst>
              <a:gd name="adj" fmla="val 1087"/>
            </a:avLst>
          </a:prstGeom>
          <a:solidFill>
            <a:srgbClr val="FFFFFF"/>
          </a:solidFill>
          <a:ln w="7620">
            <a:solidFill>
              <a:srgbClr val="D9D1CE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3" name="Image 1" descr="/mnt/data/ppt_work/unzip/ppt/media/image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6177" y="1389888"/>
            <a:ext cx="3713581" cy="3017520"/>
          </a:xfrm>
          <a:prstGeom prst="rect">
            <a:avLst/>
          </a:prstGeom>
        </p:spPr>
      </p:pic>
      <p:pic>
        <p:nvPicPr>
          <p:cNvPr id="14" name="Image 2" descr="/mnt/data/ppt_work/unzip/ppt/media/image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1840" y="1389888"/>
            <a:ext cx="3810000" cy="301752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987552" y="4901184"/>
            <a:ext cx="10149840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7620">
            <a:solidFill>
              <a:srgbClr val="E1D8D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1"/>
          <p:cNvSpPr/>
          <p:nvPr/>
        </p:nvSpPr>
        <p:spPr>
          <a:xfrm>
            <a:off x="1225296" y="5074920"/>
            <a:ext cx="9646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101828"/>
                </a:solidFill>
              </a:rPr>
              <a:t>Example shown: Azure OpenAI endpoint, deployment, API version, authentication and signed-in user verification.</a:t>
            </a:r>
            <a:endParaRPr lang="en-US" sz="8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0A66C2"/>
          </a:solidFill>
          <a:ln w="12700">
            <a:solidFill>
              <a:srgbClr val="0A66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/mnt/data/ppt_work/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" y="128016"/>
            <a:ext cx="658368" cy="1097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31089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0A66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</a:t>
            </a:r>
            <a:endParaRPr lang="en-US" sz="1120" dirty="0"/>
          </a:p>
        </p:txBody>
      </p:sp>
      <p:sp>
        <p:nvSpPr>
          <p:cNvPr id="6" name="Text 3"/>
          <p:cNvSpPr/>
          <p:nvPr/>
        </p:nvSpPr>
        <p:spPr>
          <a:xfrm>
            <a:off x="320040" y="493776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 SELECTION AND DEPENDENCY HANDLING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329184" y="841248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required objects with or without dependency expansion</a:t>
            </a:r>
            <a:endParaRPr lang="en-US" sz="1120" dirty="0"/>
          </a:p>
        </p:txBody>
      </p:sp>
      <p:sp>
        <p:nvSpPr>
          <p:cNvPr id="8" name="Shape 5"/>
          <p:cNvSpPr/>
          <p:nvPr/>
        </p:nvSpPr>
        <p:spPr>
          <a:xfrm>
            <a:off x="320040" y="6528816"/>
            <a:ext cx="11521440" cy="0"/>
          </a:xfrm>
          <a:prstGeom prst="line">
            <a:avLst/>
          </a:prstGeom>
          <a:noFill/>
          <a:ln w="1016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8595360" y="6620256"/>
            <a:ext cx="3108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6B7280"/>
                </a:solidFill>
              </a:rPr>
              <a:t>DXC Internal © 2026 DXC Technology Company. All rights reserved.</a:t>
            </a:r>
            <a:endParaRPr lang="en-US" sz="760" dirty="0"/>
          </a:p>
        </p:txBody>
      </p:sp>
      <p:sp>
        <p:nvSpPr>
          <p:cNvPr id="10" name="Text 7"/>
          <p:cNvSpPr/>
          <p:nvPr/>
        </p:nvSpPr>
        <p:spPr>
          <a:xfrm>
            <a:off x="11631168" y="164592"/>
            <a:ext cx="182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20" dirty="0">
                <a:solidFill>
                  <a:srgbClr val="475467"/>
                </a:solidFill>
              </a:rPr>
              <a:t>8</a:t>
            </a:r>
            <a:endParaRPr lang="en-US" sz="1120" dirty="0"/>
          </a:p>
        </p:txBody>
      </p:sp>
      <p:sp>
        <p:nvSpPr>
          <p:cNvPr id="11" name="Shape 8"/>
          <p:cNvSpPr/>
          <p:nvPr/>
        </p:nvSpPr>
        <p:spPr>
          <a:xfrm>
            <a:off x="502920" y="1234440"/>
            <a:ext cx="5349240" cy="3364992"/>
          </a:xfrm>
          <a:prstGeom prst="roundRect">
            <a:avLst>
              <a:gd name="adj" fmla="val 1087"/>
            </a:avLst>
          </a:prstGeom>
          <a:solidFill>
            <a:srgbClr val="FFFFFF"/>
          </a:solidFill>
          <a:ln w="7620">
            <a:solidFill>
              <a:srgbClr val="D9D1CE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6336792" y="1234440"/>
            <a:ext cx="5349240" cy="3364992"/>
          </a:xfrm>
          <a:prstGeom prst="roundRect">
            <a:avLst>
              <a:gd name="adj" fmla="val 1087"/>
            </a:avLst>
          </a:prstGeom>
          <a:solidFill>
            <a:srgbClr val="FFFFFF"/>
          </a:solidFill>
          <a:ln w="7620">
            <a:solidFill>
              <a:srgbClr val="D9D1CE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3" name="Image 1" descr="/mnt/data/ppt_work/unzip/ppt/media/image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1480824"/>
            <a:ext cx="5029200" cy="2835647"/>
          </a:xfrm>
          <a:prstGeom prst="rect">
            <a:avLst/>
          </a:prstGeom>
        </p:spPr>
      </p:pic>
      <p:pic>
        <p:nvPicPr>
          <p:cNvPr id="14" name="Image 2" descr="/mnt/data/ppt_work/unzip/ppt/media/image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1507387"/>
            <a:ext cx="5029200" cy="2782523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987552" y="4901184"/>
            <a:ext cx="10149840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7620">
            <a:solidFill>
              <a:srgbClr val="E1D8D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1"/>
          <p:cNvSpPr/>
          <p:nvPr/>
        </p:nvSpPr>
        <p:spPr>
          <a:xfrm>
            <a:off x="1225296" y="5074920"/>
            <a:ext cx="9646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101828"/>
                </a:solidFill>
              </a:rPr>
              <a:t>Recommended approach: use dependency-aware discovery to include constraints, indexes and related objects before assessment.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0A66C2"/>
          </a:solidFill>
          <a:ln w="12700">
            <a:solidFill>
              <a:srgbClr val="0A66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/mnt/data/ppt_work/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" y="128016"/>
            <a:ext cx="658368" cy="1097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31089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0A66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</a:t>
            </a:r>
            <a:endParaRPr lang="en-US" sz="1120" dirty="0"/>
          </a:p>
        </p:txBody>
      </p:sp>
      <p:sp>
        <p:nvSpPr>
          <p:cNvPr id="6" name="Text 3"/>
          <p:cNvSpPr/>
          <p:nvPr/>
        </p:nvSpPr>
        <p:spPr>
          <a:xfrm>
            <a:off x="320040" y="493776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ASSESSMENT LOGIC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329184" y="841248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tool converts metadata into migration readiness guidance</a:t>
            </a:r>
            <a:endParaRPr lang="en-US" sz="1120" dirty="0"/>
          </a:p>
        </p:txBody>
      </p:sp>
      <p:sp>
        <p:nvSpPr>
          <p:cNvPr id="8" name="Shape 5"/>
          <p:cNvSpPr/>
          <p:nvPr/>
        </p:nvSpPr>
        <p:spPr>
          <a:xfrm>
            <a:off x="320040" y="6528816"/>
            <a:ext cx="11521440" cy="0"/>
          </a:xfrm>
          <a:prstGeom prst="line">
            <a:avLst/>
          </a:prstGeom>
          <a:noFill/>
          <a:ln w="1016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8595360" y="6620256"/>
            <a:ext cx="3108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6B7280"/>
                </a:solidFill>
              </a:rPr>
              <a:t>DXC Internal © 2026 DXC Technology Company. All rights reserved.</a:t>
            </a:r>
            <a:endParaRPr lang="en-US" sz="760" dirty="0"/>
          </a:p>
        </p:txBody>
      </p:sp>
      <p:sp>
        <p:nvSpPr>
          <p:cNvPr id="10" name="Text 7"/>
          <p:cNvSpPr/>
          <p:nvPr/>
        </p:nvSpPr>
        <p:spPr>
          <a:xfrm>
            <a:off x="11631168" y="164592"/>
            <a:ext cx="182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20" dirty="0">
                <a:solidFill>
                  <a:srgbClr val="475467"/>
                </a:solidFill>
              </a:rPr>
              <a:t>9</a:t>
            </a:r>
            <a:endParaRPr lang="en-US" sz="1120" dirty="0"/>
          </a:p>
        </p:txBody>
      </p:sp>
      <p:sp>
        <p:nvSpPr>
          <p:cNvPr id="11" name="Shape 8"/>
          <p:cNvSpPr/>
          <p:nvPr/>
        </p:nvSpPr>
        <p:spPr>
          <a:xfrm>
            <a:off x="502920" y="1325880"/>
            <a:ext cx="2505456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7620">
            <a:solidFill>
              <a:srgbClr val="D9D1CE"/>
            </a:solidFill>
            <a:prstDash val="solid"/>
          </a:ln>
          <a:effectLst>
            <a:outerShdw blurRad="15240" dist="1143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585216" y="1435608"/>
            <a:ext cx="45720" cy="713232"/>
          </a:xfrm>
          <a:prstGeom prst="rect">
            <a:avLst/>
          </a:prstGeom>
          <a:solidFill>
            <a:srgbClr val="0A66C2"/>
          </a:solidFill>
          <a:ln w="12700">
            <a:solidFill>
              <a:srgbClr val="0A66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758952" y="1463040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101828"/>
                </a:solidFill>
              </a:rPr>
              <a:t>Extract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758952" y="1764792"/>
            <a:ext cx="2121408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520" dirty="0">
                <a:solidFill>
                  <a:srgbClr val="0B1220"/>
                </a:solidFill>
              </a:rPr>
              <a:t>Read Oracle object metadata and dependency information</a:t>
            </a:r>
            <a:endParaRPr lang="en-US" sz="520" dirty="0"/>
          </a:p>
        </p:txBody>
      </p:sp>
      <p:sp>
        <p:nvSpPr>
          <p:cNvPr id="15" name="Shape 12"/>
          <p:cNvSpPr/>
          <p:nvPr/>
        </p:nvSpPr>
        <p:spPr>
          <a:xfrm>
            <a:off x="3337560" y="1325880"/>
            <a:ext cx="2505456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7620">
            <a:solidFill>
              <a:srgbClr val="D9D1CE"/>
            </a:solidFill>
            <a:prstDash val="solid"/>
          </a:ln>
          <a:effectLst>
            <a:outerShdw blurRad="15240" dist="1143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3419856" y="1435608"/>
            <a:ext cx="45720" cy="713232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3593592" y="1463040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101828"/>
                </a:solidFill>
              </a:rPr>
              <a:t>Classify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3593592" y="1764792"/>
            <a:ext cx="2121408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520" dirty="0">
                <a:solidFill>
                  <a:srgbClr val="0B1220"/>
                </a:solidFill>
              </a:rPr>
              <a:t>Identify compatible, partially compatible and Oracle-specific constructs</a:t>
            </a:r>
            <a:endParaRPr lang="en-US" sz="520" dirty="0"/>
          </a:p>
        </p:txBody>
      </p:sp>
      <p:sp>
        <p:nvSpPr>
          <p:cNvPr id="19" name="Shape 16"/>
          <p:cNvSpPr/>
          <p:nvPr/>
        </p:nvSpPr>
        <p:spPr>
          <a:xfrm>
            <a:off x="6172200" y="1325880"/>
            <a:ext cx="2505456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7620">
            <a:solidFill>
              <a:srgbClr val="D9D1CE"/>
            </a:solidFill>
            <a:prstDash val="solid"/>
          </a:ln>
          <a:effectLst>
            <a:outerShdw blurRad="15240" dist="1143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7"/>
          <p:cNvSpPr/>
          <p:nvPr/>
        </p:nvSpPr>
        <p:spPr>
          <a:xfrm>
            <a:off x="6254496" y="1435608"/>
            <a:ext cx="45720" cy="713232"/>
          </a:xfrm>
          <a:prstGeom prst="rect">
            <a:avLst/>
          </a:prstGeom>
          <a:solidFill>
            <a:srgbClr val="00A88E"/>
          </a:solidFill>
          <a:ln w="12700">
            <a:solidFill>
              <a:srgbClr val="00A8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6428232" y="1463040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101828"/>
                </a:solidFill>
              </a:rPr>
              <a:t>Score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6428232" y="1764792"/>
            <a:ext cx="2121408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520" dirty="0">
                <a:solidFill>
                  <a:srgbClr val="0B1220"/>
                </a:solidFill>
              </a:rPr>
              <a:t>Calculate complexity using object types, dependency depth, datatype and PL/SQL usage</a:t>
            </a:r>
            <a:endParaRPr lang="en-US" sz="520" dirty="0"/>
          </a:p>
        </p:txBody>
      </p:sp>
      <p:sp>
        <p:nvSpPr>
          <p:cNvPr id="23" name="Shape 20"/>
          <p:cNvSpPr/>
          <p:nvPr/>
        </p:nvSpPr>
        <p:spPr>
          <a:xfrm>
            <a:off x="9006840" y="1325880"/>
            <a:ext cx="2505456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7620">
            <a:solidFill>
              <a:srgbClr val="D9D1CE"/>
            </a:solidFill>
            <a:prstDash val="solid"/>
          </a:ln>
          <a:effectLst>
            <a:outerShdw blurRad="15240" dist="1143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1"/>
          <p:cNvSpPr/>
          <p:nvPr/>
        </p:nvSpPr>
        <p:spPr>
          <a:xfrm>
            <a:off x="9089136" y="1435608"/>
            <a:ext cx="45720" cy="713232"/>
          </a:xfrm>
          <a:prstGeom prst="rect">
            <a:avLst/>
          </a:prstGeom>
          <a:solidFill>
            <a:srgbClr val="FFB000"/>
          </a:solidFill>
          <a:ln w="12700">
            <a:solidFill>
              <a:srgbClr val="FFB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9262872" y="1463040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101828"/>
                </a:solidFill>
              </a:rPr>
              <a:t>Recommend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9262872" y="1764792"/>
            <a:ext cx="2121408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520" dirty="0">
                <a:solidFill>
                  <a:srgbClr val="0B1220"/>
                </a:solidFill>
              </a:rPr>
              <a:t>Generate remediation guidance and migration readiness summary</a:t>
            </a:r>
            <a:endParaRPr lang="en-US" sz="520" dirty="0"/>
          </a:p>
        </p:txBody>
      </p:sp>
      <p:pic>
        <p:nvPicPr>
          <p:cNvPr id="27" name="Image 1" descr="/mnt/data/ppt_work/unzip/ppt/media/imag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6280" y="2971800"/>
            <a:ext cx="3591160" cy="1920240"/>
          </a:xfrm>
          <a:prstGeom prst="rect">
            <a:avLst/>
          </a:prstGeom>
        </p:spPr>
      </p:pic>
      <p:pic>
        <p:nvPicPr>
          <p:cNvPr id="28" name="Image 2" descr="/mnt/data/ppt_work/unzip/ppt/media/image1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3306023"/>
            <a:ext cx="4434840" cy="1251794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1417320" y="5285232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01828"/>
                </a:solidFill>
              </a:rPr>
              <a:t>Assessment output gives the team a readiness view before conversion effort is committed.</a:t>
            </a:r>
            <a:endParaRPr lang="en-US" sz="11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0A66C2"/>
          </a:solidFill>
          <a:ln w="12700">
            <a:solidFill>
              <a:srgbClr val="0A66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/mnt/data/ppt_work/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" y="128016"/>
            <a:ext cx="658368" cy="1097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31089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0A66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</a:t>
            </a:r>
            <a:endParaRPr lang="en-US" sz="1120" dirty="0"/>
          </a:p>
        </p:txBody>
      </p:sp>
      <p:sp>
        <p:nvSpPr>
          <p:cNvPr id="6" name="Text 3"/>
          <p:cNvSpPr/>
          <p:nvPr/>
        </p:nvSpPr>
        <p:spPr>
          <a:xfrm>
            <a:off x="320040" y="493776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CONVERSION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329184" y="841248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 mapping from Oracle schema to PostgreSQL schema</a:t>
            </a:r>
            <a:endParaRPr lang="en-US" sz="1120" dirty="0"/>
          </a:p>
        </p:txBody>
      </p:sp>
      <p:sp>
        <p:nvSpPr>
          <p:cNvPr id="8" name="Shape 5"/>
          <p:cNvSpPr/>
          <p:nvPr/>
        </p:nvSpPr>
        <p:spPr>
          <a:xfrm>
            <a:off x="320040" y="6528816"/>
            <a:ext cx="11521440" cy="0"/>
          </a:xfrm>
          <a:prstGeom prst="line">
            <a:avLst/>
          </a:prstGeom>
          <a:noFill/>
          <a:ln w="1016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8595360" y="6620256"/>
            <a:ext cx="3108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6B7280"/>
                </a:solidFill>
              </a:rPr>
              <a:t>DXC Internal © 2026 DXC Technology Company. All rights reserved.</a:t>
            </a:r>
            <a:endParaRPr lang="en-US" sz="760" dirty="0"/>
          </a:p>
        </p:txBody>
      </p:sp>
      <p:sp>
        <p:nvSpPr>
          <p:cNvPr id="10" name="Text 7"/>
          <p:cNvSpPr/>
          <p:nvPr/>
        </p:nvSpPr>
        <p:spPr>
          <a:xfrm>
            <a:off x="11631168" y="164592"/>
            <a:ext cx="182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20" dirty="0">
                <a:solidFill>
                  <a:srgbClr val="475467"/>
                </a:solidFill>
              </a:rPr>
              <a:t>10</a:t>
            </a:r>
            <a:endParaRPr lang="en-US" sz="1120" dirty="0"/>
          </a:p>
        </p:txBody>
      </p:sp>
      <p:sp>
        <p:nvSpPr>
          <p:cNvPr id="11" name="Shape 8"/>
          <p:cNvSpPr/>
          <p:nvPr/>
        </p:nvSpPr>
        <p:spPr>
          <a:xfrm>
            <a:off x="594360" y="1243584"/>
            <a:ext cx="6510528" cy="3822192"/>
          </a:xfrm>
          <a:prstGeom prst="roundRect">
            <a:avLst>
              <a:gd name="adj" fmla="val 957"/>
            </a:avLst>
          </a:prstGeom>
          <a:solidFill>
            <a:srgbClr val="FFFFFF"/>
          </a:solidFill>
          <a:ln w="7620">
            <a:solidFill>
              <a:srgbClr val="D9D1CE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2" name="Image 1" descr="/mnt/data/ppt_work/unzip/ppt/media/image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1448816"/>
            <a:ext cx="6181344" cy="3430016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7452360" y="1389888"/>
            <a:ext cx="3913632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7620">
            <a:solidFill>
              <a:srgbClr val="D9D1CE"/>
            </a:solidFill>
            <a:prstDash val="solid"/>
          </a:ln>
          <a:effectLst>
            <a:outerShdw blurRad="15240" dist="1143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0"/>
          <p:cNvSpPr/>
          <p:nvPr/>
        </p:nvSpPr>
        <p:spPr>
          <a:xfrm>
            <a:off x="7534656" y="1499616"/>
            <a:ext cx="45720" cy="640080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1"/>
          <p:cNvSpPr/>
          <p:nvPr/>
        </p:nvSpPr>
        <p:spPr>
          <a:xfrm>
            <a:off x="7708392" y="152704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101828"/>
                </a:solidFill>
              </a:rPr>
              <a:t>Controls</a:t>
            </a:r>
            <a:endParaRPr lang="en-US" sz="700" dirty="0"/>
          </a:p>
        </p:txBody>
      </p:sp>
      <p:sp>
        <p:nvSpPr>
          <p:cNvPr id="16" name="Text 12"/>
          <p:cNvSpPr/>
          <p:nvPr/>
        </p:nvSpPr>
        <p:spPr>
          <a:xfrm>
            <a:off x="7708392" y="1828800"/>
            <a:ext cx="3529584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520" dirty="0">
                <a:solidFill>
                  <a:srgbClr val="0B1220"/>
                </a:solidFill>
              </a:rPr>
              <a:t>Accept all recommended mappings, save mappings, generate reports, change individual mappings and reset mappings.</a:t>
            </a:r>
            <a:endParaRPr lang="en-US" sz="520" dirty="0"/>
          </a:p>
        </p:txBody>
      </p:sp>
      <p:sp>
        <p:nvSpPr>
          <p:cNvPr id="17" name="Shape 13"/>
          <p:cNvSpPr/>
          <p:nvPr/>
        </p:nvSpPr>
        <p:spPr>
          <a:xfrm>
            <a:off x="7452360" y="2523744"/>
            <a:ext cx="3913632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7620">
            <a:solidFill>
              <a:srgbClr val="D9D1CE"/>
            </a:solidFill>
            <a:prstDash val="solid"/>
          </a:ln>
          <a:effectLst>
            <a:outerShdw blurRad="15240" dist="1143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4"/>
          <p:cNvSpPr/>
          <p:nvPr/>
        </p:nvSpPr>
        <p:spPr>
          <a:xfrm>
            <a:off x="7534656" y="2633472"/>
            <a:ext cx="45720" cy="640080"/>
          </a:xfrm>
          <a:prstGeom prst="rect">
            <a:avLst/>
          </a:prstGeom>
          <a:solidFill>
            <a:srgbClr val="0A66C2"/>
          </a:solidFill>
          <a:ln w="12700">
            <a:solidFill>
              <a:srgbClr val="0A66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5"/>
          <p:cNvSpPr/>
          <p:nvPr/>
        </p:nvSpPr>
        <p:spPr>
          <a:xfrm>
            <a:off x="7708392" y="266090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101828"/>
                </a:solidFill>
              </a:rPr>
              <a:t>Migration value</a:t>
            </a:r>
            <a:endParaRPr lang="en-US" sz="700" dirty="0"/>
          </a:p>
        </p:txBody>
      </p:sp>
      <p:sp>
        <p:nvSpPr>
          <p:cNvPr id="20" name="Text 16"/>
          <p:cNvSpPr/>
          <p:nvPr/>
        </p:nvSpPr>
        <p:spPr>
          <a:xfrm>
            <a:off x="7708392" y="2962656"/>
            <a:ext cx="3529584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520" dirty="0">
                <a:solidFill>
                  <a:srgbClr val="0B1220"/>
                </a:solidFill>
              </a:rPr>
              <a:t>Makes schema mapping choices visible before DDL conversion and reduces unmanaged manual changes.</a:t>
            </a:r>
            <a:endParaRPr lang="en-US" sz="520" dirty="0"/>
          </a:p>
        </p:txBody>
      </p:sp>
      <p:sp>
        <p:nvSpPr>
          <p:cNvPr id="21" name="Shape 17"/>
          <p:cNvSpPr/>
          <p:nvPr/>
        </p:nvSpPr>
        <p:spPr>
          <a:xfrm>
            <a:off x="7452360" y="3657600"/>
            <a:ext cx="3913632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7620">
            <a:solidFill>
              <a:srgbClr val="D9D1CE"/>
            </a:solidFill>
            <a:prstDash val="solid"/>
          </a:ln>
          <a:effectLst>
            <a:outerShdw blurRad="15240" dist="1143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18"/>
          <p:cNvSpPr/>
          <p:nvPr/>
        </p:nvSpPr>
        <p:spPr>
          <a:xfrm>
            <a:off x="7534656" y="3767328"/>
            <a:ext cx="45720" cy="640080"/>
          </a:xfrm>
          <a:prstGeom prst="rect">
            <a:avLst/>
          </a:prstGeom>
          <a:solidFill>
            <a:srgbClr val="00A88E"/>
          </a:solidFill>
          <a:ln w="12700">
            <a:solidFill>
              <a:srgbClr val="00A8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19"/>
          <p:cNvSpPr/>
          <p:nvPr/>
        </p:nvSpPr>
        <p:spPr>
          <a:xfrm>
            <a:off x="7708392" y="379476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101828"/>
                </a:solidFill>
              </a:rPr>
              <a:t>Governance</a:t>
            </a:r>
            <a:endParaRPr lang="en-US" sz="700" dirty="0"/>
          </a:p>
        </p:txBody>
      </p:sp>
      <p:sp>
        <p:nvSpPr>
          <p:cNvPr id="24" name="Text 20"/>
          <p:cNvSpPr/>
          <p:nvPr/>
        </p:nvSpPr>
        <p:spPr>
          <a:xfrm>
            <a:off x="7708392" y="4096512"/>
            <a:ext cx="3529584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520" dirty="0">
                <a:solidFill>
                  <a:srgbClr val="0B1220"/>
                </a:solidFill>
              </a:rPr>
              <a:t>Mapping report provides evidence for DBA, application owner and migration stakeholder review.</a:t>
            </a:r>
            <a:endParaRPr lang="en-US" sz="5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0A66C2"/>
          </a:solidFill>
          <a:ln w="12700">
            <a:solidFill>
              <a:srgbClr val="0A66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/mnt/data/ppt_work/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" y="128016"/>
            <a:ext cx="658368" cy="1097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31089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0A66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Mapping</a:t>
            </a:r>
            <a:endParaRPr lang="en-US" sz="1120" dirty="0"/>
          </a:p>
        </p:txBody>
      </p:sp>
      <p:sp>
        <p:nvSpPr>
          <p:cNvPr id="6" name="Text 3"/>
          <p:cNvSpPr/>
          <p:nvPr/>
        </p:nvSpPr>
        <p:spPr>
          <a:xfrm>
            <a:off x="320040" y="493776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TYPE MAPPING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329184" y="841248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global and column-level Oracle-to-PostgreSQL data type mappings</a:t>
            </a:r>
            <a:endParaRPr lang="en-US" sz="1120" dirty="0"/>
          </a:p>
        </p:txBody>
      </p:sp>
      <p:sp>
        <p:nvSpPr>
          <p:cNvPr id="8" name="Shape 5"/>
          <p:cNvSpPr/>
          <p:nvPr/>
        </p:nvSpPr>
        <p:spPr>
          <a:xfrm>
            <a:off x="320040" y="6528816"/>
            <a:ext cx="11521440" cy="0"/>
          </a:xfrm>
          <a:prstGeom prst="line">
            <a:avLst/>
          </a:prstGeom>
          <a:noFill/>
          <a:ln w="1016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8595360" y="6620256"/>
            <a:ext cx="3108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6B7280"/>
                </a:solidFill>
              </a:rPr>
              <a:t>DXC Internal © 2026 DXC Technology Company. All rights reserved.</a:t>
            </a:r>
            <a:endParaRPr lang="en-US" sz="760" dirty="0"/>
          </a:p>
        </p:txBody>
      </p:sp>
      <p:sp>
        <p:nvSpPr>
          <p:cNvPr id="10" name="Text 7"/>
          <p:cNvSpPr/>
          <p:nvPr/>
        </p:nvSpPr>
        <p:spPr>
          <a:xfrm>
            <a:off x="11631168" y="164592"/>
            <a:ext cx="182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20" dirty="0">
                <a:solidFill>
                  <a:srgbClr val="475467"/>
                </a:solidFill>
              </a:rPr>
              <a:t>11</a:t>
            </a:r>
            <a:endParaRPr lang="en-US" sz="1120" dirty="0"/>
          </a:p>
        </p:txBody>
      </p:sp>
      <p:sp>
        <p:nvSpPr>
          <p:cNvPr id="11" name="Shape 8"/>
          <p:cNvSpPr/>
          <p:nvPr/>
        </p:nvSpPr>
        <p:spPr>
          <a:xfrm>
            <a:off x="594360" y="1243584"/>
            <a:ext cx="6510528" cy="3822192"/>
          </a:xfrm>
          <a:prstGeom prst="roundRect">
            <a:avLst>
              <a:gd name="adj" fmla="val 957"/>
            </a:avLst>
          </a:prstGeom>
          <a:solidFill>
            <a:srgbClr val="FFFFFF"/>
          </a:solidFill>
          <a:ln w="7620">
            <a:solidFill>
              <a:srgbClr val="D9D1CE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2" name="Image 1" descr="/mnt/data/ppt_work/unzip/ppt/media/image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1755105"/>
            <a:ext cx="6181344" cy="2817439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7452360" y="1389888"/>
            <a:ext cx="3913632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7620">
            <a:solidFill>
              <a:srgbClr val="D9D1CE"/>
            </a:solidFill>
            <a:prstDash val="solid"/>
          </a:ln>
          <a:effectLst>
            <a:outerShdw blurRad="15240" dist="1143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0"/>
          <p:cNvSpPr/>
          <p:nvPr/>
        </p:nvSpPr>
        <p:spPr>
          <a:xfrm>
            <a:off x="7534656" y="1499616"/>
            <a:ext cx="45720" cy="640080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1"/>
          <p:cNvSpPr/>
          <p:nvPr/>
        </p:nvSpPr>
        <p:spPr>
          <a:xfrm>
            <a:off x="7708392" y="152704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101828"/>
                </a:solidFill>
              </a:rPr>
              <a:t>Global rules</a:t>
            </a:r>
            <a:endParaRPr lang="en-US" sz="700" dirty="0"/>
          </a:p>
        </p:txBody>
      </p:sp>
      <p:sp>
        <p:nvSpPr>
          <p:cNvPr id="16" name="Text 12"/>
          <p:cNvSpPr/>
          <p:nvPr/>
        </p:nvSpPr>
        <p:spPr>
          <a:xfrm>
            <a:off x="7708392" y="1828800"/>
            <a:ext cx="3529584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520" dirty="0">
                <a:solidFill>
                  <a:srgbClr val="0B1220"/>
                </a:solidFill>
              </a:rPr>
              <a:t>Standard Oracle datatypes can be reviewed and exported as controlled conversion rules.</a:t>
            </a:r>
            <a:endParaRPr lang="en-US" sz="520" dirty="0"/>
          </a:p>
        </p:txBody>
      </p:sp>
      <p:sp>
        <p:nvSpPr>
          <p:cNvPr id="17" name="Shape 13"/>
          <p:cNvSpPr/>
          <p:nvPr/>
        </p:nvSpPr>
        <p:spPr>
          <a:xfrm>
            <a:off x="7452360" y="2523744"/>
            <a:ext cx="3913632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7620">
            <a:solidFill>
              <a:srgbClr val="D9D1CE"/>
            </a:solidFill>
            <a:prstDash val="solid"/>
          </a:ln>
          <a:effectLst>
            <a:outerShdw blurRad="15240" dist="1143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4"/>
          <p:cNvSpPr/>
          <p:nvPr/>
        </p:nvSpPr>
        <p:spPr>
          <a:xfrm>
            <a:off x="7534656" y="2633472"/>
            <a:ext cx="45720" cy="640080"/>
          </a:xfrm>
          <a:prstGeom prst="rect">
            <a:avLst/>
          </a:prstGeom>
          <a:solidFill>
            <a:srgbClr val="0A66C2"/>
          </a:solidFill>
          <a:ln w="12700">
            <a:solidFill>
              <a:srgbClr val="0A66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5"/>
          <p:cNvSpPr/>
          <p:nvPr/>
        </p:nvSpPr>
        <p:spPr>
          <a:xfrm>
            <a:off x="7708392" y="266090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101828"/>
                </a:solidFill>
              </a:rPr>
              <a:t>Column overrides</a:t>
            </a:r>
            <a:endParaRPr lang="en-US" sz="700" dirty="0"/>
          </a:p>
        </p:txBody>
      </p:sp>
      <p:sp>
        <p:nvSpPr>
          <p:cNvPr id="20" name="Text 16"/>
          <p:cNvSpPr/>
          <p:nvPr/>
        </p:nvSpPr>
        <p:spPr>
          <a:xfrm>
            <a:off x="7708392" y="2962656"/>
            <a:ext cx="3529584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520" dirty="0">
                <a:solidFill>
                  <a:srgbClr val="0B1220"/>
                </a:solidFill>
              </a:rPr>
              <a:t>Special cases can be adjusted at column level for precision, date and LOB handling.</a:t>
            </a:r>
            <a:endParaRPr lang="en-US" sz="520" dirty="0"/>
          </a:p>
        </p:txBody>
      </p:sp>
      <p:sp>
        <p:nvSpPr>
          <p:cNvPr id="21" name="Shape 17"/>
          <p:cNvSpPr/>
          <p:nvPr/>
        </p:nvSpPr>
        <p:spPr>
          <a:xfrm>
            <a:off x="7452360" y="3657600"/>
            <a:ext cx="3913632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7620">
            <a:solidFill>
              <a:srgbClr val="D9D1CE"/>
            </a:solidFill>
            <a:prstDash val="solid"/>
          </a:ln>
          <a:effectLst>
            <a:outerShdw blurRad="15240" dist="1143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18"/>
          <p:cNvSpPr/>
          <p:nvPr/>
        </p:nvSpPr>
        <p:spPr>
          <a:xfrm>
            <a:off x="7534656" y="3767328"/>
            <a:ext cx="45720" cy="640080"/>
          </a:xfrm>
          <a:prstGeom prst="rect">
            <a:avLst/>
          </a:prstGeom>
          <a:solidFill>
            <a:srgbClr val="00A88E"/>
          </a:solidFill>
          <a:ln w="12700">
            <a:solidFill>
              <a:srgbClr val="00A8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19"/>
          <p:cNvSpPr/>
          <p:nvPr/>
        </p:nvSpPr>
        <p:spPr>
          <a:xfrm>
            <a:off x="7708392" y="379476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101828"/>
                </a:solidFill>
              </a:rPr>
              <a:t>Traceability</a:t>
            </a:r>
            <a:endParaRPr lang="en-US" sz="700" dirty="0"/>
          </a:p>
        </p:txBody>
      </p:sp>
      <p:sp>
        <p:nvSpPr>
          <p:cNvPr id="24" name="Text 20"/>
          <p:cNvSpPr/>
          <p:nvPr/>
        </p:nvSpPr>
        <p:spPr>
          <a:xfrm>
            <a:off x="7708392" y="4096512"/>
            <a:ext cx="3529584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520" dirty="0">
                <a:solidFill>
                  <a:srgbClr val="0B1220"/>
                </a:solidFill>
              </a:rPr>
              <a:t>Refresh, export, undo/redo and report generation support review before data movement.</a:t>
            </a:r>
            <a:endParaRPr lang="en-US" sz="5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0A66C2"/>
          </a:solidFill>
          <a:ln w="12700">
            <a:solidFill>
              <a:srgbClr val="0A66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/mnt/data/ppt_work/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" y="128016"/>
            <a:ext cx="658368" cy="1097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31089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0A66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</a:t>
            </a:r>
            <a:endParaRPr lang="en-US" sz="1120" dirty="0"/>
          </a:p>
        </p:txBody>
      </p:sp>
      <p:sp>
        <p:nvSpPr>
          <p:cNvPr id="6" name="Text 3"/>
          <p:cNvSpPr/>
          <p:nvPr/>
        </p:nvSpPr>
        <p:spPr>
          <a:xfrm>
            <a:off x="320040" y="493776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MIGRATION ACTIVITIES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329184" y="841248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schema migration, data migration and combined migration execution</a:t>
            </a:r>
            <a:endParaRPr lang="en-US" sz="1120" dirty="0"/>
          </a:p>
        </p:txBody>
      </p:sp>
      <p:sp>
        <p:nvSpPr>
          <p:cNvPr id="8" name="Shape 5"/>
          <p:cNvSpPr/>
          <p:nvPr/>
        </p:nvSpPr>
        <p:spPr>
          <a:xfrm>
            <a:off x="320040" y="6528816"/>
            <a:ext cx="11521440" cy="0"/>
          </a:xfrm>
          <a:prstGeom prst="line">
            <a:avLst/>
          </a:prstGeom>
          <a:noFill/>
          <a:ln w="1016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8595360" y="6620256"/>
            <a:ext cx="3108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6B7280"/>
                </a:solidFill>
              </a:rPr>
              <a:t>DXC Internal © 2026 DXC Technology Company. All rights reserved.</a:t>
            </a:r>
            <a:endParaRPr lang="en-US" sz="760" dirty="0"/>
          </a:p>
        </p:txBody>
      </p:sp>
      <p:sp>
        <p:nvSpPr>
          <p:cNvPr id="10" name="Text 7"/>
          <p:cNvSpPr/>
          <p:nvPr/>
        </p:nvSpPr>
        <p:spPr>
          <a:xfrm>
            <a:off x="11631168" y="164592"/>
            <a:ext cx="182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20" dirty="0">
                <a:solidFill>
                  <a:srgbClr val="475467"/>
                </a:solidFill>
              </a:rPr>
              <a:t>12</a:t>
            </a:r>
            <a:endParaRPr lang="en-US" sz="1120" dirty="0"/>
          </a:p>
        </p:txBody>
      </p:sp>
      <p:sp>
        <p:nvSpPr>
          <p:cNvPr id="11" name="Shape 8"/>
          <p:cNvSpPr/>
          <p:nvPr/>
        </p:nvSpPr>
        <p:spPr>
          <a:xfrm>
            <a:off x="594360" y="1243584"/>
            <a:ext cx="6510528" cy="3822192"/>
          </a:xfrm>
          <a:prstGeom prst="roundRect">
            <a:avLst>
              <a:gd name="adj" fmla="val 957"/>
            </a:avLst>
          </a:prstGeom>
          <a:solidFill>
            <a:srgbClr val="FFFFFF"/>
          </a:solidFill>
          <a:ln w="7620">
            <a:solidFill>
              <a:srgbClr val="D9D1CE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2" name="Image 1" descr="/mnt/data/ppt_work/unzip/ppt/media/image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1707017"/>
            <a:ext cx="6181344" cy="2913614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7452360" y="1389888"/>
            <a:ext cx="3913632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7620">
            <a:solidFill>
              <a:srgbClr val="D9D1CE"/>
            </a:solidFill>
            <a:prstDash val="solid"/>
          </a:ln>
          <a:effectLst>
            <a:outerShdw blurRad="15240" dist="1143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0"/>
          <p:cNvSpPr/>
          <p:nvPr/>
        </p:nvSpPr>
        <p:spPr>
          <a:xfrm>
            <a:off x="7534656" y="1499616"/>
            <a:ext cx="45720" cy="640080"/>
          </a:xfrm>
          <a:prstGeom prst="rect">
            <a:avLst/>
          </a:prstGeom>
          <a:solidFill>
            <a:srgbClr val="0A66C2"/>
          </a:solidFill>
          <a:ln w="12700">
            <a:solidFill>
              <a:srgbClr val="0A66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1"/>
          <p:cNvSpPr/>
          <p:nvPr/>
        </p:nvSpPr>
        <p:spPr>
          <a:xfrm>
            <a:off x="7708392" y="152704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101828"/>
                </a:solidFill>
              </a:rPr>
              <a:t>Schema migration</a:t>
            </a:r>
            <a:endParaRPr lang="en-US" sz="700" dirty="0"/>
          </a:p>
        </p:txBody>
      </p:sp>
      <p:sp>
        <p:nvSpPr>
          <p:cNvPr id="16" name="Text 12"/>
          <p:cNvSpPr/>
          <p:nvPr/>
        </p:nvSpPr>
        <p:spPr>
          <a:xfrm>
            <a:off x="7708392" y="1828800"/>
            <a:ext cx="3529584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520" dirty="0">
                <a:solidFill>
                  <a:srgbClr val="0B1220"/>
                </a:solidFill>
              </a:rPr>
              <a:t>Move database structures, objects and dependencies after schema conversion review.</a:t>
            </a:r>
            <a:endParaRPr lang="en-US" sz="520" dirty="0"/>
          </a:p>
        </p:txBody>
      </p:sp>
      <p:sp>
        <p:nvSpPr>
          <p:cNvPr id="17" name="Shape 13"/>
          <p:cNvSpPr/>
          <p:nvPr/>
        </p:nvSpPr>
        <p:spPr>
          <a:xfrm>
            <a:off x="7452360" y="2523744"/>
            <a:ext cx="3913632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7620">
            <a:solidFill>
              <a:srgbClr val="D9D1CE"/>
            </a:solidFill>
            <a:prstDash val="solid"/>
          </a:ln>
          <a:effectLst>
            <a:outerShdw blurRad="15240" dist="1143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4"/>
          <p:cNvSpPr/>
          <p:nvPr/>
        </p:nvSpPr>
        <p:spPr>
          <a:xfrm>
            <a:off x="7534656" y="2633472"/>
            <a:ext cx="45720" cy="640080"/>
          </a:xfrm>
          <a:prstGeom prst="rect">
            <a:avLst/>
          </a:prstGeom>
          <a:solidFill>
            <a:srgbClr val="00A88E"/>
          </a:solidFill>
          <a:ln w="12700">
            <a:solidFill>
              <a:srgbClr val="00A8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5"/>
          <p:cNvSpPr/>
          <p:nvPr/>
        </p:nvSpPr>
        <p:spPr>
          <a:xfrm>
            <a:off x="7708392" y="266090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101828"/>
                </a:solidFill>
              </a:rPr>
              <a:t>Data migration</a:t>
            </a:r>
            <a:endParaRPr lang="en-US" sz="700" dirty="0"/>
          </a:p>
        </p:txBody>
      </p:sp>
      <p:sp>
        <p:nvSpPr>
          <p:cNvPr id="20" name="Text 16"/>
          <p:cNvSpPr/>
          <p:nvPr/>
        </p:nvSpPr>
        <p:spPr>
          <a:xfrm>
            <a:off x="7708392" y="2962656"/>
            <a:ext cx="3529584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520" dirty="0">
                <a:solidFill>
                  <a:srgbClr val="0B1220"/>
                </a:solidFill>
              </a:rPr>
              <a:t>Move table data with progress tracking and high-performance migration logic.</a:t>
            </a:r>
            <a:endParaRPr lang="en-US" sz="520" dirty="0"/>
          </a:p>
        </p:txBody>
      </p:sp>
      <p:sp>
        <p:nvSpPr>
          <p:cNvPr id="21" name="Shape 17"/>
          <p:cNvSpPr/>
          <p:nvPr/>
        </p:nvSpPr>
        <p:spPr>
          <a:xfrm>
            <a:off x="7452360" y="3657600"/>
            <a:ext cx="3913632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7620">
            <a:solidFill>
              <a:srgbClr val="D9D1CE"/>
            </a:solidFill>
            <a:prstDash val="solid"/>
          </a:ln>
          <a:effectLst>
            <a:outerShdw blurRad="15240" dist="1143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18"/>
          <p:cNvSpPr/>
          <p:nvPr/>
        </p:nvSpPr>
        <p:spPr>
          <a:xfrm>
            <a:off x="7534656" y="3767328"/>
            <a:ext cx="45720" cy="640080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19"/>
          <p:cNvSpPr/>
          <p:nvPr/>
        </p:nvSpPr>
        <p:spPr>
          <a:xfrm>
            <a:off x="7708392" y="379476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101828"/>
                </a:solidFill>
              </a:rPr>
              <a:t>Schema &amp; data</a:t>
            </a:r>
            <a:endParaRPr lang="en-US" sz="700" dirty="0"/>
          </a:p>
        </p:txBody>
      </p:sp>
      <p:sp>
        <p:nvSpPr>
          <p:cNvPr id="24" name="Text 20"/>
          <p:cNvSpPr/>
          <p:nvPr/>
        </p:nvSpPr>
        <p:spPr>
          <a:xfrm>
            <a:off x="7708392" y="4096512"/>
            <a:ext cx="3529584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520" dirty="0">
                <a:solidFill>
                  <a:srgbClr val="0B1220"/>
                </a:solidFill>
              </a:rPr>
              <a:t>Run combined migration after target readiness and test sign-off are completed.</a:t>
            </a:r>
            <a:endParaRPr lang="en-US" sz="5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0A66C2"/>
          </a:solidFill>
          <a:ln w="12700">
            <a:solidFill>
              <a:srgbClr val="0A66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/mnt/data/ppt_work/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" y="128016"/>
            <a:ext cx="658368" cy="1097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31089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0A66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</a:t>
            </a:r>
            <a:endParaRPr lang="en-US" sz="1120" dirty="0"/>
          </a:p>
        </p:txBody>
      </p:sp>
      <p:sp>
        <p:nvSpPr>
          <p:cNvPr id="6" name="Text 3"/>
          <p:cNvSpPr/>
          <p:nvPr/>
        </p:nvSpPr>
        <p:spPr>
          <a:xfrm>
            <a:off x="320040" y="493776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VALIDATION, REPORT &amp; HISTORY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329184" y="841248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Migration quality checks and evidence generation</a:t>
            </a:r>
            <a:endParaRPr lang="en-US" sz="1120" dirty="0"/>
          </a:p>
        </p:txBody>
      </p:sp>
      <p:sp>
        <p:nvSpPr>
          <p:cNvPr id="8" name="Shape 5"/>
          <p:cNvSpPr/>
          <p:nvPr/>
        </p:nvSpPr>
        <p:spPr>
          <a:xfrm>
            <a:off x="320040" y="6528816"/>
            <a:ext cx="11521440" cy="0"/>
          </a:xfrm>
          <a:prstGeom prst="line">
            <a:avLst/>
          </a:prstGeom>
          <a:noFill/>
          <a:ln w="1016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8595360" y="6620256"/>
            <a:ext cx="3108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6B7280"/>
                </a:solidFill>
              </a:rPr>
              <a:t>DXC Internal © 2026 DXC Technology Company. All rights reserved.</a:t>
            </a:r>
            <a:endParaRPr lang="en-US" sz="760" dirty="0"/>
          </a:p>
        </p:txBody>
      </p:sp>
      <p:sp>
        <p:nvSpPr>
          <p:cNvPr id="10" name="Text 7"/>
          <p:cNvSpPr/>
          <p:nvPr/>
        </p:nvSpPr>
        <p:spPr>
          <a:xfrm>
            <a:off x="11631168" y="164592"/>
            <a:ext cx="182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20" dirty="0">
                <a:solidFill>
                  <a:srgbClr val="475467"/>
                </a:solidFill>
              </a:rPr>
              <a:t>13</a:t>
            </a:r>
            <a:endParaRPr lang="en-US" sz="1120" dirty="0"/>
          </a:p>
        </p:txBody>
      </p:sp>
      <p:sp>
        <p:nvSpPr>
          <p:cNvPr id="11" name="Shape 8"/>
          <p:cNvSpPr/>
          <p:nvPr/>
        </p:nvSpPr>
        <p:spPr>
          <a:xfrm>
            <a:off x="502920" y="1234440"/>
            <a:ext cx="5440680" cy="320040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7620">
            <a:solidFill>
              <a:srgbClr val="D9D1CE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2" name="Image 1" descr="/mnt/data/ppt_work/unzip/ppt/media/image1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649755"/>
            <a:ext cx="5074920" cy="236977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327648" y="1243584"/>
            <a:ext cx="5257800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7620">
            <a:solidFill>
              <a:srgbClr val="D9D1C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4" name="Image 2" descr="/mnt/data/ppt_work/unzip/ppt/media/image1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46670" y="1362456"/>
            <a:ext cx="2628900" cy="123444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6327648" y="2944368"/>
            <a:ext cx="5257800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7620">
            <a:solidFill>
              <a:srgbClr val="D9D1C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Image 3" descr="/mnt/data/ppt_work/unzip/ppt/media/image1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73455" y="3063240"/>
            <a:ext cx="2575329" cy="123444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731520" y="4892040"/>
            <a:ext cx="32461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7620">
            <a:solidFill>
              <a:srgbClr val="D9D1CE"/>
            </a:solidFill>
            <a:prstDash val="solid"/>
          </a:ln>
          <a:effectLst>
            <a:outerShdw blurRad="15240" dist="1143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2"/>
          <p:cNvSpPr/>
          <p:nvPr/>
        </p:nvSpPr>
        <p:spPr>
          <a:xfrm>
            <a:off x="813816" y="5001768"/>
            <a:ext cx="45720" cy="438912"/>
          </a:xfrm>
          <a:prstGeom prst="rect">
            <a:avLst/>
          </a:prstGeom>
          <a:solidFill>
            <a:srgbClr val="0A66C2"/>
          </a:solidFill>
          <a:ln w="12700">
            <a:solidFill>
              <a:srgbClr val="0A66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3"/>
          <p:cNvSpPr/>
          <p:nvPr/>
        </p:nvSpPr>
        <p:spPr>
          <a:xfrm>
            <a:off x="987552" y="5029200"/>
            <a:ext cx="2898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b="1" dirty="0">
                <a:solidFill>
                  <a:srgbClr val="101828"/>
                </a:solidFill>
              </a:rPr>
              <a:t>Validation</a:t>
            </a:r>
            <a:endParaRPr lang="en-US" sz="650" dirty="0"/>
          </a:p>
        </p:txBody>
      </p:sp>
      <p:sp>
        <p:nvSpPr>
          <p:cNvPr id="20" name="Text 14"/>
          <p:cNvSpPr/>
          <p:nvPr/>
        </p:nvSpPr>
        <p:spPr>
          <a:xfrm>
            <a:off x="987552" y="5330952"/>
            <a:ext cx="2862072" cy="1280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480" dirty="0">
                <a:solidFill>
                  <a:srgbClr val="0B1220"/>
                </a:solidFill>
              </a:rPr>
              <a:t>Confirm object counts, status and post-migration quality gates.</a:t>
            </a:r>
            <a:endParaRPr lang="en-US" sz="480" dirty="0"/>
          </a:p>
        </p:txBody>
      </p:sp>
      <p:sp>
        <p:nvSpPr>
          <p:cNvPr id="21" name="Shape 15"/>
          <p:cNvSpPr/>
          <p:nvPr/>
        </p:nvSpPr>
        <p:spPr>
          <a:xfrm>
            <a:off x="4434840" y="4892040"/>
            <a:ext cx="32461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7620">
            <a:solidFill>
              <a:srgbClr val="D9D1CE"/>
            </a:solidFill>
            <a:prstDash val="solid"/>
          </a:ln>
          <a:effectLst>
            <a:outerShdw blurRad="15240" dist="1143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16"/>
          <p:cNvSpPr/>
          <p:nvPr/>
        </p:nvSpPr>
        <p:spPr>
          <a:xfrm>
            <a:off x="4517136" y="5001768"/>
            <a:ext cx="45720" cy="438912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17"/>
          <p:cNvSpPr/>
          <p:nvPr/>
        </p:nvSpPr>
        <p:spPr>
          <a:xfrm>
            <a:off x="4690872" y="5029200"/>
            <a:ext cx="2898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b="1" dirty="0">
                <a:solidFill>
                  <a:srgbClr val="101828"/>
                </a:solidFill>
              </a:rPr>
              <a:t>Reports &amp; history</a:t>
            </a:r>
            <a:endParaRPr lang="en-US" sz="650" dirty="0"/>
          </a:p>
        </p:txBody>
      </p:sp>
      <p:sp>
        <p:nvSpPr>
          <p:cNvPr id="24" name="Text 18"/>
          <p:cNvSpPr/>
          <p:nvPr/>
        </p:nvSpPr>
        <p:spPr>
          <a:xfrm>
            <a:off x="4690872" y="5330952"/>
            <a:ext cx="2862072" cy="1280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480" dirty="0">
                <a:solidFill>
                  <a:srgbClr val="0B1220"/>
                </a:solidFill>
              </a:rPr>
              <a:t>Generate evidence packs and track migration execution history.</a:t>
            </a:r>
            <a:endParaRPr lang="en-US" sz="480" dirty="0"/>
          </a:p>
        </p:txBody>
      </p:sp>
      <p:sp>
        <p:nvSpPr>
          <p:cNvPr id="25" name="Shape 19"/>
          <p:cNvSpPr/>
          <p:nvPr/>
        </p:nvSpPr>
        <p:spPr>
          <a:xfrm>
            <a:off x="8138160" y="4892040"/>
            <a:ext cx="32461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7620">
            <a:solidFill>
              <a:srgbClr val="D9D1CE"/>
            </a:solidFill>
            <a:prstDash val="solid"/>
          </a:ln>
          <a:effectLst>
            <a:outerShdw blurRad="15240" dist="1143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0"/>
          <p:cNvSpPr/>
          <p:nvPr/>
        </p:nvSpPr>
        <p:spPr>
          <a:xfrm>
            <a:off x="8220456" y="5001768"/>
            <a:ext cx="45720" cy="438912"/>
          </a:xfrm>
          <a:prstGeom prst="rect">
            <a:avLst/>
          </a:prstGeom>
          <a:solidFill>
            <a:srgbClr val="00A88E"/>
          </a:solidFill>
          <a:ln w="12700">
            <a:solidFill>
              <a:srgbClr val="00A8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1"/>
          <p:cNvSpPr/>
          <p:nvPr/>
        </p:nvSpPr>
        <p:spPr>
          <a:xfrm>
            <a:off x="8394192" y="5029200"/>
            <a:ext cx="2898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b="1" dirty="0">
                <a:solidFill>
                  <a:srgbClr val="101828"/>
                </a:solidFill>
              </a:rPr>
              <a:t>Assistant &amp; tokens</a:t>
            </a:r>
            <a:endParaRPr lang="en-US" sz="650" dirty="0"/>
          </a:p>
        </p:txBody>
      </p:sp>
      <p:sp>
        <p:nvSpPr>
          <p:cNvPr id="28" name="Text 22"/>
          <p:cNvSpPr/>
          <p:nvPr/>
        </p:nvSpPr>
        <p:spPr>
          <a:xfrm>
            <a:off x="8394192" y="5330952"/>
            <a:ext cx="2862072" cy="1280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480" dirty="0">
                <a:solidFill>
                  <a:srgbClr val="0B1220"/>
                </a:solidFill>
              </a:rPr>
              <a:t>Support post-migration questions and monitor AI token utilization.</a:t>
            </a:r>
            <a:endParaRPr lang="en-US" sz="4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0A66C2"/>
          </a:solidFill>
          <a:ln w="12700">
            <a:solidFill>
              <a:srgbClr val="0A66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/mnt/data/ppt_work/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" y="128016"/>
            <a:ext cx="658368" cy="1097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31089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0A66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</a:t>
            </a:r>
            <a:endParaRPr lang="en-US" sz="1120" dirty="0"/>
          </a:p>
        </p:txBody>
      </p:sp>
      <p:sp>
        <p:nvSpPr>
          <p:cNvPr id="6" name="Text 3"/>
          <p:cNvSpPr/>
          <p:nvPr/>
        </p:nvSpPr>
        <p:spPr>
          <a:xfrm>
            <a:off x="320040" y="493776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DELIVERED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329184" y="841248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confidence, faster assessment and improved governance</a:t>
            </a:r>
            <a:endParaRPr lang="en-US" sz="1120" dirty="0"/>
          </a:p>
        </p:txBody>
      </p:sp>
      <p:sp>
        <p:nvSpPr>
          <p:cNvPr id="8" name="Shape 5"/>
          <p:cNvSpPr/>
          <p:nvPr/>
        </p:nvSpPr>
        <p:spPr>
          <a:xfrm>
            <a:off x="320040" y="6528816"/>
            <a:ext cx="11521440" cy="0"/>
          </a:xfrm>
          <a:prstGeom prst="line">
            <a:avLst/>
          </a:prstGeom>
          <a:noFill/>
          <a:ln w="1016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8595360" y="6620256"/>
            <a:ext cx="3108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6B7280"/>
                </a:solidFill>
              </a:rPr>
              <a:t>DXC Internal © 2026 DXC Technology Company. All rights reserved.</a:t>
            </a:r>
            <a:endParaRPr lang="en-US" sz="760" dirty="0"/>
          </a:p>
        </p:txBody>
      </p:sp>
      <p:sp>
        <p:nvSpPr>
          <p:cNvPr id="10" name="Text 7"/>
          <p:cNvSpPr/>
          <p:nvPr/>
        </p:nvSpPr>
        <p:spPr>
          <a:xfrm>
            <a:off x="11631168" y="164592"/>
            <a:ext cx="182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20" dirty="0">
                <a:solidFill>
                  <a:srgbClr val="475467"/>
                </a:solidFill>
              </a:rPr>
              <a:t>14</a:t>
            </a:r>
            <a:endParaRPr lang="en-US" sz="1120" dirty="0"/>
          </a:p>
        </p:txBody>
      </p:sp>
      <p:sp>
        <p:nvSpPr>
          <p:cNvPr id="11" name="Shape 8"/>
          <p:cNvSpPr/>
          <p:nvPr/>
        </p:nvSpPr>
        <p:spPr>
          <a:xfrm>
            <a:off x="960120" y="1527048"/>
            <a:ext cx="54864" cy="502920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1197864" y="1417320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101828"/>
                </a:solidFill>
              </a:rPr>
              <a:t>Accelerated migration assessment</a:t>
            </a:r>
            <a:endParaRPr lang="en-US" sz="1120" dirty="0"/>
          </a:p>
        </p:txBody>
      </p:sp>
      <p:sp>
        <p:nvSpPr>
          <p:cNvPr id="13" name="Text 10"/>
          <p:cNvSpPr/>
          <p:nvPr/>
        </p:nvSpPr>
        <p:spPr>
          <a:xfrm>
            <a:off x="1197864" y="1673352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0B1220"/>
                </a:solidFill>
              </a:rPr>
              <a:t>Shorter discovery-to-readiness cycle</a:t>
            </a:r>
            <a:endParaRPr lang="en-US" sz="1120" dirty="0"/>
          </a:p>
        </p:txBody>
      </p:sp>
      <p:sp>
        <p:nvSpPr>
          <p:cNvPr id="14" name="Shape 11"/>
          <p:cNvSpPr/>
          <p:nvPr/>
        </p:nvSpPr>
        <p:spPr>
          <a:xfrm>
            <a:off x="960120" y="2532888"/>
            <a:ext cx="54864" cy="502920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1197864" y="2423160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101828"/>
                </a:solidFill>
              </a:rPr>
              <a:t>Reduced manual conversion analysis</a:t>
            </a:r>
            <a:endParaRPr lang="en-US" sz="1120" dirty="0"/>
          </a:p>
        </p:txBody>
      </p:sp>
      <p:sp>
        <p:nvSpPr>
          <p:cNvPr id="16" name="Text 13"/>
          <p:cNvSpPr/>
          <p:nvPr/>
        </p:nvSpPr>
        <p:spPr>
          <a:xfrm>
            <a:off x="1197864" y="2679192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0B1220"/>
                </a:solidFill>
              </a:rPr>
              <a:t>AI-assisted recommendations for technical teams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960120" y="3538728"/>
            <a:ext cx="54864" cy="502920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1197864" y="3429000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101828"/>
                </a:solidFill>
              </a:rPr>
              <a:t>Provider-flexible AI integration</a:t>
            </a:r>
            <a:endParaRPr lang="en-US" sz="1120" dirty="0"/>
          </a:p>
        </p:txBody>
      </p:sp>
      <p:sp>
        <p:nvSpPr>
          <p:cNvPr id="19" name="Text 16"/>
          <p:cNvSpPr/>
          <p:nvPr/>
        </p:nvSpPr>
        <p:spPr>
          <a:xfrm>
            <a:off x="1197864" y="3685032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0B1220"/>
                </a:solidFill>
              </a:rPr>
              <a:t>Works with approved enterprise AI endpoints</a:t>
            </a:r>
            <a:endParaRPr lang="en-US" sz="1120" dirty="0"/>
          </a:p>
        </p:txBody>
      </p:sp>
      <p:sp>
        <p:nvSpPr>
          <p:cNvPr id="20" name="Shape 17"/>
          <p:cNvSpPr/>
          <p:nvPr/>
        </p:nvSpPr>
        <p:spPr>
          <a:xfrm>
            <a:off x="960120" y="4544568"/>
            <a:ext cx="54864" cy="502920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1197864" y="4434840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101828"/>
                </a:solidFill>
              </a:rPr>
              <a:t>Traceable logs and reports</a:t>
            </a:r>
            <a:endParaRPr lang="en-US" sz="1120" dirty="0"/>
          </a:p>
        </p:txBody>
      </p:sp>
      <p:sp>
        <p:nvSpPr>
          <p:cNvPr id="22" name="Text 19"/>
          <p:cNvSpPr/>
          <p:nvPr/>
        </p:nvSpPr>
        <p:spPr>
          <a:xfrm>
            <a:off x="1197864" y="4690872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0B1220"/>
                </a:solidFill>
              </a:rPr>
              <a:t>Evidence for review and handover</a:t>
            </a:r>
            <a:endParaRPr lang="en-US" sz="1120" dirty="0"/>
          </a:p>
        </p:txBody>
      </p:sp>
      <p:sp>
        <p:nvSpPr>
          <p:cNvPr id="23" name="Shape 20"/>
          <p:cNvSpPr/>
          <p:nvPr/>
        </p:nvSpPr>
        <p:spPr>
          <a:xfrm>
            <a:off x="6583680" y="1527048"/>
            <a:ext cx="54864" cy="502920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6821424" y="1417320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101828"/>
                </a:solidFill>
              </a:rPr>
              <a:t>Stage-based migration controls</a:t>
            </a:r>
            <a:endParaRPr lang="en-US" sz="1120" dirty="0"/>
          </a:p>
        </p:txBody>
      </p:sp>
      <p:sp>
        <p:nvSpPr>
          <p:cNvPr id="25" name="Text 22"/>
          <p:cNvSpPr/>
          <p:nvPr/>
        </p:nvSpPr>
        <p:spPr>
          <a:xfrm>
            <a:off x="6821424" y="1673352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0B1220"/>
                </a:solidFill>
              </a:rPr>
              <a:t>Clear checkpoints across the lifecycle</a:t>
            </a:r>
            <a:endParaRPr lang="en-US" sz="1120" dirty="0"/>
          </a:p>
        </p:txBody>
      </p:sp>
      <p:sp>
        <p:nvSpPr>
          <p:cNvPr id="26" name="Shape 23"/>
          <p:cNvSpPr/>
          <p:nvPr/>
        </p:nvSpPr>
        <p:spPr>
          <a:xfrm>
            <a:off x="6583680" y="2532888"/>
            <a:ext cx="54864" cy="502920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6821424" y="2423160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101828"/>
                </a:solidFill>
              </a:rPr>
              <a:t>Validation-focused quality gate</a:t>
            </a:r>
            <a:endParaRPr lang="en-US" sz="1120" dirty="0"/>
          </a:p>
        </p:txBody>
      </p:sp>
      <p:sp>
        <p:nvSpPr>
          <p:cNvPr id="28" name="Text 25"/>
          <p:cNvSpPr/>
          <p:nvPr/>
        </p:nvSpPr>
        <p:spPr>
          <a:xfrm>
            <a:off x="6821424" y="2679192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0B1220"/>
                </a:solidFill>
              </a:rPr>
              <a:t>Post-migration checks before sign-off</a:t>
            </a:r>
            <a:endParaRPr lang="en-US" sz="1120" dirty="0"/>
          </a:p>
        </p:txBody>
      </p:sp>
      <p:sp>
        <p:nvSpPr>
          <p:cNvPr id="29" name="Shape 26"/>
          <p:cNvSpPr/>
          <p:nvPr/>
        </p:nvSpPr>
        <p:spPr>
          <a:xfrm>
            <a:off x="6583680" y="3538728"/>
            <a:ext cx="54864" cy="502920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6821424" y="3429000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101828"/>
                </a:solidFill>
              </a:rPr>
              <a:t>Post-migration assistant support</a:t>
            </a:r>
            <a:endParaRPr lang="en-US" sz="1120" dirty="0"/>
          </a:p>
        </p:txBody>
      </p:sp>
      <p:sp>
        <p:nvSpPr>
          <p:cNvPr id="31" name="Text 28"/>
          <p:cNvSpPr/>
          <p:nvPr/>
        </p:nvSpPr>
        <p:spPr>
          <a:xfrm>
            <a:off x="6821424" y="3685032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0B1220"/>
                </a:solidFill>
              </a:rPr>
              <a:t>Guidance for follow-up questions</a:t>
            </a:r>
            <a:endParaRPr lang="en-US" sz="1120" dirty="0"/>
          </a:p>
        </p:txBody>
      </p:sp>
      <p:sp>
        <p:nvSpPr>
          <p:cNvPr id="32" name="Shape 29"/>
          <p:cNvSpPr/>
          <p:nvPr/>
        </p:nvSpPr>
        <p:spPr>
          <a:xfrm>
            <a:off x="6583680" y="4544568"/>
            <a:ext cx="54864" cy="502920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0"/>
          <p:cNvSpPr/>
          <p:nvPr/>
        </p:nvSpPr>
        <p:spPr>
          <a:xfrm>
            <a:off x="6821424" y="4434840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101828"/>
                </a:solidFill>
              </a:rPr>
              <a:t>Token visibility for AI usage governance</a:t>
            </a:r>
            <a:endParaRPr lang="en-US" sz="1120" dirty="0"/>
          </a:p>
        </p:txBody>
      </p:sp>
      <p:sp>
        <p:nvSpPr>
          <p:cNvPr id="34" name="Text 31"/>
          <p:cNvSpPr/>
          <p:nvPr/>
        </p:nvSpPr>
        <p:spPr>
          <a:xfrm>
            <a:off x="6821424" y="4690872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0B1220"/>
                </a:solidFill>
              </a:rPr>
              <a:t>Usage transparency for project controls</a:t>
            </a:r>
            <a:endParaRPr lang="en-US" sz="1120" dirty="0"/>
          </a:p>
        </p:txBody>
      </p:sp>
      <p:sp>
        <p:nvSpPr>
          <p:cNvPr id="35" name="Text 32"/>
          <p:cNvSpPr/>
          <p:nvPr/>
        </p:nvSpPr>
        <p:spPr>
          <a:xfrm>
            <a:off x="1920240" y="5623560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01828"/>
                </a:solidFill>
              </a:rPr>
              <a:t>Overall impact: faster planning, better technical visibility and stronger migration governance.</a:t>
            </a:r>
            <a:endParaRPr lang="en-US" sz="11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0A66C2"/>
          </a:solidFill>
          <a:ln w="12700">
            <a:solidFill>
              <a:srgbClr val="0A66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/mnt/data/ppt_work/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" y="128016"/>
            <a:ext cx="658368" cy="1097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31089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0A66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1120" dirty="0"/>
          </a:p>
        </p:txBody>
      </p:sp>
      <p:sp>
        <p:nvSpPr>
          <p:cNvPr id="6" name="Text 3"/>
          <p:cNvSpPr/>
          <p:nvPr/>
        </p:nvSpPr>
        <p:spPr>
          <a:xfrm>
            <a:off x="320040" y="493776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PLAN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329184" y="841248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Suggested path to finalize the Oracle to PostgreSQL AI migration tool package</a:t>
            </a:r>
            <a:endParaRPr lang="en-US" sz="1120" dirty="0"/>
          </a:p>
        </p:txBody>
      </p:sp>
      <p:sp>
        <p:nvSpPr>
          <p:cNvPr id="8" name="Shape 5"/>
          <p:cNvSpPr/>
          <p:nvPr/>
        </p:nvSpPr>
        <p:spPr>
          <a:xfrm>
            <a:off x="320040" y="6528816"/>
            <a:ext cx="11521440" cy="0"/>
          </a:xfrm>
          <a:prstGeom prst="line">
            <a:avLst/>
          </a:prstGeom>
          <a:noFill/>
          <a:ln w="1016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8595360" y="6620256"/>
            <a:ext cx="3108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6B7280"/>
                </a:solidFill>
              </a:rPr>
              <a:t>DXC Internal © 2026 DXC Technology Company. All rights reserved.</a:t>
            </a:r>
            <a:endParaRPr lang="en-US" sz="760" dirty="0"/>
          </a:p>
        </p:txBody>
      </p:sp>
      <p:sp>
        <p:nvSpPr>
          <p:cNvPr id="10" name="Text 7"/>
          <p:cNvSpPr/>
          <p:nvPr/>
        </p:nvSpPr>
        <p:spPr>
          <a:xfrm>
            <a:off x="11631168" y="164592"/>
            <a:ext cx="182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20" dirty="0">
                <a:solidFill>
                  <a:srgbClr val="475467"/>
                </a:solidFill>
              </a:rPr>
              <a:t>15</a:t>
            </a:r>
            <a:endParaRPr lang="en-US" sz="1120" dirty="0"/>
          </a:p>
        </p:txBody>
      </p:sp>
      <p:sp>
        <p:nvSpPr>
          <p:cNvPr id="11" name="Shape 8"/>
          <p:cNvSpPr/>
          <p:nvPr/>
        </p:nvSpPr>
        <p:spPr>
          <a:xfrm>
            <a:off x="621792" y="1261872"/>
            <a:ext cx="10917936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7620">
            <a:solidFill>
              <a:srgbClr val="DAD1CE"/>
            </a:solidFill>
            <a:prstDash val="solid"/>
          </a:ln>
          <a:effectLst>
            <a:outerShdw blurRad="10160" dist="4445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758952" y="1389888"/>
            <a:ext cx="54864" cy="402336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932688" y="137160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101828"/>
                </a:solidFill>
              </a:rPr>
              <a:t>1. Confirm AI providers</a:t>
            </a:r>
            <a:endParaRPr lang="en-US" sz="1120" dirty="0"/>
          </a:p>
        </p:txBody>
      </p:sp>
      <p:sp>
        <p:nvSpPr>
          <p:cNvPr id="14" name="Text 11"/>
          <p:cNvSpPr/>
          <p:nvPr/>
        </p:nvSpPr>
        <p:spPr>
          <a:xfrm>
            <a:off x="932688" y="1609344"/>
            <a:ext cx="5669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0B1220"/>
                </a:solidFill>
              </a:rPr>
              <a:t>Finalize Azure, AWS, Google and approved enterprise model endpoint options.</a:t>
            </a:r>
            <a:endParaRPr lang="en-US" sz="1120" dirty="0"/>
          </a:p>
        </p:txBody>
      </p:sp>
      <p:sp>
        <p:nvSpPr>
          <p:cNvPr id="15" name="Text 12"/>
          <p:cNvSpPr/>
          <p:nvPr/>
        </p:nvSpPr>
        <p:spPr>
          <a:xfrm>
            <a:off x="7818120" y="1536192"/>
            <a:ext cx="3017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60" b="1" dirty="0">
                <a:solidFill>
                  <a:srgbClr val="0A66C2"/>
                </a:solidFill>
              </a:rPr>
              <a:t>Output: provider configuration matrix</a:t>
            </a:r>
            <a:endParaRPr lang="en-US" sz="760" dirty="0"/>
          </a:p>
        </p:txBody>
      </p:sp>
      <p:sp>
        <p:nvSpPr>
          <p:cNvPr id="16" name="Shape 13"/>
          <p:cNvSpPr/>
          <p:nvPr/>
        </p:nvSpPr>
        <p:spPr>
          <a:xfrm>
            <a:off x="621792" y="2130552"/>
            <a:ext cx="10917936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7620">
            <a:solidFill>
              <a:srgbClr val="DAD1CE"/>
            </a:solidFill>
            <a:prstDash val="solid"/>
          </a:ln>
          <a:effectLst>
            <a:outerShdw blurRad="10160" dist="4445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4"/>
          <p:cNvSpPr/>
          <p:nvPr/>
        </p:nvSpPr>
        <p:spPr>
          <a:xfrm>
            <a:off x="758952" y="2258568"/>
            <a:ext cx="54864" cy="402336"/>
          </a:xfrm>
          <a:prstGeom prst="rect">
            <a:avLst/>
          </a:prstGeom>
          <a:solidFill>
            <a:srgbClr val="0A66C2"/>
          </a:solidFill>
          <a:ln w="12700">
            <a:solidFill>
              <a:srgbClr val="0A66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932688" y="224028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101828"/>
                </a:solidFill>
              </a:rPr>
              <a:t>2. Pilot representative schema</a:t>
            </a:r>
            <a:endParaRPr lang="en-US" sz="1120" dirty="0"/>
          </a:p>
        </p:txBody>
      </p:sp>
      <p:sp>
        <p:nvSpPr>
          <p:cNvPr id="19" name="Text 16"/>
          <p:cNvSpPr/>
          <p:nvPr/>
        </p:nvSpPr>
        <p:spPr>
          <a:xfrm>
            <a:off x="932688" y="2478024"/>
            <a:ext cx="5669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0B1220"/>
                </a:solidFill>
              </a:rPr>
              <a:t>Test tables, constraints, indexes, views, packages, procedures and functions.</a:t>
            </a:r>
            <a:endParaRPr lang="en-US" sz="1120" dirty="0"/>
          </a:p>
        </p:txBody>
      </p:sp>
      <p:sp>
        <p:nvSpPr>
          <p:cNvPr id="20" name="Text 17"/>
          <p:cNvSpPr/>
          <p:nvPr/>
        </p:nvSpPr>
        <p:spPr>
          <a:xfrm>
            <a:off x="7818120" y="2404872"/>
            <a:ext cx="3017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60" b="1" dirty="0">
                <a:solidFill>
                  <a:srgbClr val="0A66C2"/>
                </a:solidFill>
              </a:rPr>
              <a:t>Output: pilot assessment results</a:t>
            </a:r>
            <a:endParaRPr lang="en-US" sz="760" dirty="0"/>
          </a:p>
        </p:txBody>
      </p:sp>
      <p:sp>
        <p:nvSpPr>
          <p:cNvPr id="21" name="Shape 18"/>
          <p:cNvSpPr/>
          <p:nvPr/>
        </p:nvSpPr>
        <p:spPr>
          <a:xfrm>
            <a:off x="621792" y="2999232"/>
            <a:ext cx="10917936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7620">
            <a:solidFill>
              <a:srgbClr val="DAD1CE"/>
            </a:solidFill>
            <a:prstDash val="solid"/>
          </a:ln>
          <a:effectLst>
            <a:outerShdw blurRad="10160" dist="4445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19"/>
          <p:cNvSpPr/>
          <p:nvPr/>
        </p:nvSpPr>
        <p:spPr>
          <a:xfrm>
            <a:off x="758952" y="3127248"/>
            <a:ext cx="54864" cy="402336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932688" y="310896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101828"/>
                </a:solidFill>
              </a:rPr>
              <a:t>3. Review assessment output</a:t>
            </a:r>
            <a:endParaRPr lang="en-US" sz="1120" dirty="0"/>
          </a:p>
        </p:txBody>
      </p:sp>
      <p:sp>
        <p:nvSpPr>
          <p:cNvPr id="24" name="Text 21"/>
          <p:cNvSpPr/>
          <p:nvPr/>
        </p:nvSpPr>
        <p:spPr>
          <a:xfrm>
            <a:off x="932688" y="3346704"/>
            <a:ext cx="5669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0B1220"/>
                </a:solidFill>
              </a:rPr>
              <a:t>Validate AI classification, complexity score and remediation guidance.</a:t>
            </a:r>
            <a:endParaRPr lang="en-US" sz="1120" dirty="0"/>
          </a:p>
        </p:txBody>
      </p:sp>
      <p:sp>
        <p:nvSpPr>
          <p:cNvPr id="25" name="Text 22"/>
          <p:cNvSpPr/>
          <p:nvPr/>
        </p:nvSpPr>
        <p:spPr>
          <a:xfrm>
            <a:off x="7818120" y="3273552"/>
            <a:ext cx="3017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60" b="1" dirty="0">
                <a:solidFill>
                  <a:srgbClr val="0A66C2"/>
                </a:solidFill>
              </a:rPr>
              <a:t>Output: reviewed readiness report</a:t>
            </a:r>
            <a:endParaRPr lang="en-US" sz="760" dirty="0"/>
          </a:p>
        </p:txBody>
      </p:sp>
      <p:sp>
        <p:nvSpPr>
          <p:cNvPr id="26" name="Shape 23"/>
          <p:cNvSpPr/>
          <p:nvPr/>
        </p:nvSpPr>
        <p:spPr>
          <a:xfrm>
            <a:off x="621792" y="3867912"/>
            <a:ext cx="10917936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7620">
            <a:solidFill>
              <a:srgbClr val="DAD1CE"/>
            </a:solidFill>
            <a:prstDash val="solid"/>
          </a:ln>
          <a:effectLst>
            <a:outerShdw blurRad="10160" dist="4445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4"/>
          <p:cNvSpPr/>
          <p:nvPr/>
        </p:nvSpPr>
        <p:spPr>
          <a:xfrm>
            <a:off x="758952" y="3995928"/>
            <a:ext cx="54864" cy="402336"/>
          </a:xfrm>
          <a:prstGeom prst="rect">
            <a:avLst/>
          </a:prstGeom>
          <a:solidFill>
            <a:srgbClr val="0A66C2"/>
          </a:solidFill>
          <a:ln w="12700">
            <a:solidFill>
              <a:srgbClr val="0A66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932688" y="397764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101828"/>
                </a:solidFill>
              </a:rPr>
              <a:t>4. Run controlled migration</a:t>
            </a:r>
            <a:endParaRPr lang="en-US" sz="1120" dirty="0"/>
          </a:p>
        </p:txBody>
      </p:sp>
      <p:sp>
        <p:nvSpPr>
          <p:cNvPr id="29" name="Text 26"/>
          <p:cNvSpPr/>
          <p:nvPr/>
        </p:nvSpPr>
        <p:spPr>
          <a:xfrm>
            <a:off x="932688" y="4215384"/>
            <a:ext cx="5669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0B1220"/>
                </a:solidFill>
              </a:rPr>
              <a:t>Execute phased schema and data migration with validation and defect remediation.</a:t>
            </a:r>
            <a:endParaRPr lang="en-US" sz="1120" dirty="0"/>
          </a:p>
        </p:txBody>
      </p:sp>
      <p:sp>
        <p:nvSpPr>
          <p:cNvPr id="30" name="Text 27"/>
          <p:cNvSpPr/>
          <p:nvPr/>
        </p:nvSpPr>
        <p:spPr>
          <a:xfrm>
            <a:off x="7818120" y="4142232"/>
            <a:ext cx="3017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60" b="1" dirty="0">
                <a:solidFill>
                  <a:srgbClr val="0A66C2"/>
                </a:solidFill>
              </a:rPr>
              <a:t>Output: migration status and defects log</a:t>
            </a:r>
            <a:endParaRPr lang="en-US" sz="760" dirty="0"/>
          </a:p>
        </p:txBody>
      </p:sp>
      <p:sp>
        <p:nvSpPr>
          <p:cNvPr id="31" name="Shape 28"/>
          <p:cNvSpPr/>
          <p:nvPr/>
        </p:nvSpPr>
        <p:spPr>
          <a:xfrm>
            <a:off x="621792" y="4736592"/>
            <a:ext cx="10917936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7620">
            <a:solidFill>
              <a:srgbClr val="DAD1CE"/>
            </a:solidFill>
            <a:prstDash val="solid"/>
          </a:ln>
          <a:effectLst>
            <a:outerShdw blurRad="10160" dist="4445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29"/>
          <p:cNvSpPr/>
          <p:nvPr/>
        </p:nvSpPr>
        <p:spPr>
          <a:xfrm>
            <a:off x="758952" y="4864608"/>
            <a:ext cx="54864" cy="402336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0"/>
          <p:cNvSpPr/>
          <p:nvPr/>
        </p:nvSpPr>
        <p:spPr>
          <a:xfrm>
            <a:off x="932688" y="484632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101828"/>
                </a:solidFill>
              </a:rPr>
              <a:t>5. Prepare handover pack</a:t>
            </a:r>
            <a:endParaRPr lang="en-US" sz="1120" dirty="0"/>
          </a:p>
        </p:txBody>
      </p:sp>
      <p:sp>
        <p:nvSpPr>
          <p:cNvPr id="34" name="Text 31"/>
          <p:cNvSpPr/>
          <p:nvPr/>
        </p:nvSpPr>
        <p:spPr>
          <a:xfrm>
            <a:off x="932688" y="5084064"/>
            <a:ext cx="5669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0B1220"/>
                </a:solidFill>
              </a:rPr>
              <a:t>Share assessment, mapping, migration, validation and token utilization reports.</a:t>
            </a:r>
            <a:endParaRPr lang="en-US" sz="1120" dirty="0"/>
          </a:p>
        </p:txBody>
      </p:sp>
      <p:sp>
        <p:nvSpPr>
          <p:cNvPr id="35" name="Text 32"/>
          <p:cNvSpPr/>
          <p:nvPr/>
        </p:nvSpPr>
        <p:spPr>
          <a:xfrm>
            <a:off x="7818120" y="5010912"/>
            <a:ext cx="3017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60" b="1" dirty="0">
                <a:solidFill>
                  <a:srgbClr val="0A66C2"/>
                </a:solidFill>
              </a:rPr>
              <a:t>Output: final governance evidence pack</a:t>
            </a:r>
            <a:endParaRPr lang="en-US" sz="76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_work/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92608"/>
            <a:ext cx="676656" cy="1097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601200" y="914400"/>
            <a:ext cx="1444752" cy="2944368"/>
          </a:xfrm>
          <a:prstGeom prst="arc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749808" y="290779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1828"/>
                </a:solidFill>
              </a:rPr>
              <a:t>THANK YOU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49808" y="338328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0B1220"/>
                </a:solidFill>
              </a:rPr>
              <a:t>Oracle to PostgreSQL AI Migration Tool</a:t>
            </a:r>
            <a:endParaRPr lang="en-US" sz="1120" dirty="0"/>
          </a:p>
        </p:txBody>
      </p:sp>
      <p:sp>
        <p:nvSpPr>
          <p:cNvPr id="6" name="Text 3"/>
          <p:cNvSpPr/>
          <p:nvPr/>
        </p:nvSpPr>
        <p:spPr>
          <a:xfrm>
            <a:off x="749808" y="3703320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 dirty="0">
                <a:solidFill>
                  <a:srgbClr val="0A66C2"/>
                </a:solidFill>
              </a:rPr>
              <a:t>Assessment • Conversion • Migration • Validation</a:t>
            </a:r>
            <a:endParaRPr lang="en-US" sz="860" dirty="0"/>
          </a:p>
        </p:txBody>
      </p:sp>
      <p:sp>
        <p:nvSpPr>
          <p:cNvPr id="7" name="Shape 4"/>
          <p:cNvSpPr/>
          <p:nvPr/>
        </p:nvSpPr>
        <p:spPr>
          <a:xfrm>
            <a:off x="749808" y="6327648"/>
            <a:ext cx="10744200" cy="0"/>
          </a:xfrm>
          <a:prstGeom prst="line">
            <a:avLst/>
          </a:prstGeom>
          <a:noFill/>
          <a:ln w="1016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7955280" y="6510528"/>
            <a:ext cx="3383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6B7280"/>
                </a:solidFill>
              </a:rPr>
              <a:t>DXC Internal © 2026 DXC Technology Company. All rights reserved.</a:t>
            </a:r>
            <a:endParaRPr lang="en-US" sz="760" dirty="0"/>
          </a:p>
        </p:txBody>
      </p:sp>
      <p:sp>
        <p:nvSpPr>
          <p:cNvPr id="9" name="Text 6"/>
          <p:cNvSpPr/>
          <p:nvPr/>
        </p:nvSpPr>
        <p:spPr>
          <a:xfrm>
            <a:off x="11631168" y="164592"/>
            <a:ext cx="182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6B7280"/>
                </a:solidFill>
              </a:rPr>
              <a:t>16</a:t>
            </a:r>
            <a:endParaRPr lang="en-US" sz="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fc17f1d-f670-4793-aa61-7a6b15327d4d" xsi:nil="true"/>
    <lcf76f155ced4ddcb4097134ff3c332f xmlns="798532a6-f5f3-4f95-9da4-a207ab3a9de2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E47E6560EBD9F489147EFFA75E17856" ma:contentTypeVersion="9" ma:contentTypeDescription="Create a new document." ma:contentTypeScope="" ma:versionID="229950b5ddc8927890efd04ebfd6e1b0">
  <xsd:schema xmlns:xsd="http://www.w3.org/2001/XMLSchema" xmlns:xs="http://www.w3.org/2001/XMLSchema" xmlns:p="http://schemas.microsoft.com/office/2006/metadata/properties" xmlns:ns2="798532a6-f5f3-4f95-9da4-a207ab3a9de2" xmlns:ns3="dfc17f1d-f670-4793-aa61-7a6b15327d4d" targetNamespace="http://schemas.microsoft.com/office/2006/metadata/properties" ma:root="true" ma:fieldsID="c77cdd25c13d0a16d2438c85fe9b158a" ns2:_="" ns3:_="">
    <xsd:import namespace="798532a6-f5f3-4f95-9da4-a207ab3a9de2"/>
    <xsd:import namespace="dfc17f1d-f670-4793-aa61-7a6b15327d4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98532a6-f5f3-4f95-9da4-a207ab3a9de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18f211cb-e08d-4e65-a875-32590ca7bbf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c17f1d-f670-4793-aa61-7a6b15327d4d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1df93769-ae19-438b-809a-9f1094063849}" ma:internalName="TaxCatchAll" ma:showField="CatchAllData" ma:web="dfc17f1d-f670-4793-aa61-7a6b15327d4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F1E12A6-5A4F-4992-A205-D481A54B61AD}">
  <ds:schemaRefs>
    <ds:schemaRef ds:uri="http://schemas.microsoft.com/office/2006/metadata/properties"/>
    <ds:schemaRef ds:uri="http://schemas.microsoft.com/office/infopath/2007/PartnerControls"/>
    <ds:schemaRef ds:uri="dfc17f1d-f670-4793-aa61-7a6b15327d4d"/>
    <ds:schemaRef ds:uri="798532a6-f5f3-4f95-9da4-a207ab3a9de2"/>
  </ds:schemaRefs>
</ds:datastoreItem>
</file>

<file path=customXml/itemProps2.xml><?xml version="1.0" encoding="utf-8"?>
<ds:datastoreItem xmlns:ds="http://schemas.openxmlformats.org/officeDocument/2006/customXml" ds:itemID="{489FC808-E68D-42EF-868F-11095CB0996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AF0B549-30E3-4FEB-B0A9-C79DF941D07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98532a6-f5f3-4f95-9da4-a207ab3a9de2"/>
    <ds:schemaRef ds:uri="dfc17f1d-f670-4793-aa61-7a6b15327d4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1570</Words>
  <Application>Microsoft Office PowerPoint</Application>
  <PresentationFormat>Widescreen</PresentationFormat>
  <Paragraphs>241</Paragraphs>
  <Slides>16</Slides>
  <Notes>16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DXC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Oracle to PostgreSQL AI Migration Tool</dc:title>
  <dc:subject>Oracle to PostgreSQL AI Migration Tool</dc:subject>
  <dc:creator>A L, GIRISH</dc:creator>
  <cp:lastModifiedBy>A L, GIRISH</cp:lastModifiedBy>
  <cp:revision>3</cp:revision>
  <dcterms:created xsi:type="dcterms:W3CDTF">2026-08-05T07:56:51Z</dcterms:created>
  <dcterms:modified xsi:type="dcterms:W3CDTF">2026-08-20T09:46:22Z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5394ae5-69af-439d-af88-cb521c31c0c5_Enabled">
    <vt:lpwstr>true</vt:lpwstr>
  </property>
  <property fmtid="{D5CDD505-2E9C-101B-9397-08002B2CF9AE}" pid="3" name="MSIP_Label_15394ae5-69af-439d-af88-cb521c31c0c5_SetDate">
    <vt:lpwstr>2026-08-05T07:56:51Z</vt:lpwstr>
  </property>
  <property fmtid="{D5CDD505-2E9C-101B-9397-08002B2CF9AE}" pid="4" name="MSIP_Label_15394ae5-69af-439d-af88-cb521c31c0c5_Method">
    <vt:lpwstr>Standard</vt:lpwstr>
  </property>
  <property fmtid="{D5CDD505-2E9C-101B-9397-08002B2CF9AE}" pid="5" name="MSIP_Label_15394ae5-69af-439d-af88-cb521c31c0c5_Name">
    <vt:lpwstr>DXC Internal</vt:lpwstr>
  </property>
  <property fmtid="{D5CDD505-2E9C-101B-9397-08002B2CF9AE}" pid="6" name="MSIP_Label_15394ae5-69af-439d-af88-cb521c31c0c5_SiteId">
    <vt:lpwstr>93f33571-550f-43cf-b09f-cd331338d086</vt:lpwstr>
  </property>
  <property fmtid="{D5CDD505-2E9C-101B-9397-08002B2CF9AE}" pid="7" name="MSIP_Label_15394ae5-69af-439d-af88-cb521c31c0c5_ActionId">
    <vt:lpwstr>21f2980a-c4d2-41a0-8081-f8e056f0e8d3</vt:lpwstr>
  </property>
  <property fmtid="{D5CDD505-2E9C-101B-9397-08002B2CF9AE}" pid="8" name="MSIP_Label_15394ae5-69af-439d-af88-cb521c31c0c5_ContentBits">
    <vt:lpwstr>0</vt:lpwstr>
  </property>
  <property fmtid="{D5CDD505-2E9C-101B-9397-08002B2CF9AE}" pid="9" name="ContentTypeId">
    <vt:lpwstr>0x0101005E47E6560EBD9F489147EFFA75E17856</vt:lpwstr>
  </property>
</Properties>
</file>