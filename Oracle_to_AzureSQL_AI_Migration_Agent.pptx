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template, DXC branding style and Oracle to PostgreSQL AI migration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PowerPoint agenda content and DXC style reference.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dashboard screenshots and migration workflow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provider and migration workflow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Migration lifecycle content derived from the user-provided dashboard workflow and Oracle to PostgreSQL AI migration tool context.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Oracle and PostgreSQL connection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Azure OpenAI configuration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object selection and dependency handling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AI assessment screenshots and dashboard log details.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schema conversion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data type mapping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migration execution dashboard screenshot.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validation, report/history and assistant/token dashboard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Based on user-provided dashboard capabilities and migration workflow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Recommended next steps derived from the user-provided migration lifecycle and dashboard screens.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DXC style reference and presentation content.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XC_MASTER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146304"/>
            <a:ext cx="12191695" cy="6400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0" y="6583680"/>
            <a:ext cx="12191695" cy="1463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66928" y="1097280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5240" dist="9525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/mnt/data/ppt_work/unzip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389888"/>
            <a:ext cx="969264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9019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66C2"/>
                </a:solidFill>
              </a:rPr>
              <a:t>ORACLE TO AZURE SQL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1248" y="2267712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AI MIGRATION TOOL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859536" y="2862072"/>
            <a:ext cx="1325880" cy="640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41248" y="3090672"/>
            <a:ext cx="58064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</a:rPr>
              <a:t>Dashboard walkthrough, migration lifecycle and AI-assisted conversion framework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1248" y="3785616"/>
            <a:ext cx="4224528" cy="384048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87552" y="3913632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01828"/>
                </a:solidFill>
              </a:rPr>
              <a:t>Assessment • Conversion • Migration • Validation</a:t>
            </a:r>
            <a:endParaRPr lang="en-US" sz="830" dirty="0"/>
          </a:p>
        </p:txBody>
      </p:sp>
      <p:sp>
        <p:nvSpPr>
          <p:cNvPr id="15" name="Text 11"/>
          <p:cNvSpPr/>
          <p:nvPr/>
        </p:nvSpPr>
        <p:spPr>
          <a:xfrm>
            <a:off x="841248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F2937"/>
                </a:solidFill>
              </a:rPr>
              <a:t>DXC Internal | July 2026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7882128" y="1243584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101828">
              <a:alpha val="96000"/>
            </a:srgbClr>
          </a:solidFill>
          <a:ln w="12700">
            <a:solidFill>
              <a:srgbClr val="101828"/>
            </a:solidFill>
            <a:prstDash val="solid"/>
          </a:ln>
          <a:effectLst>
            <a:outerShdw blurRad="13970" dist="889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183880" y="16276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MIGRATION VALUE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93024" y="2112264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8261604" y="2208276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01</a:t>
            </a:r>
            <a:endParaRPr lang="en-US" sz="490" dirty="0"/>
          </a:p>
        </p:txBody>
      </p:sp>
      <p:sp>
        <p:nvSpPr>
          <p:cNvPr id="20" name="Text 16"/>
          <p:cNvSpPr/>
          <p:nvPr/>
        </p:nvSpPr>
        <p:spPr>
          <a:xfrm>
            <a:off x="8650224" y="21396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AI-driven assessment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8193024" y="2688336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261604" y="2784348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02</a:t>
            </a:r>
            <a:endParaRPr lang="en-US" sz="490" dirty="0"/>
          </a:p>
        </p:txBody>
      </p:sp>
      <p:sp>
        <p:nvSpPr>
          <p:cNvPr id="23" name="Text 19"/>
          <p:cNvSpPr/>
          <p:nvPr/>
        </p:nvSpPr>
        <p:spPr>
          <a:xfrm>
            <a:off x="8650224" y="27157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Dependency-aware discovery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8193024" y="3264408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8261604" y="336042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03</a:t>
            </a:r>
            <a:endParaRPr lang="en-US" sz="490" dirty="0"/>
          </a:p>
        </p:txBody>
      </p:sp>
      <p:sp>
        <p:nvSpPr>
          <p:cNvPr id="26" name="Text 22"/>
          <p:cNvSpPr/>
          <p:nvPr/>
        </p:nvSpPr>
        <p:spPr>
          <a:xfrm>
            <a:off x="8650224" y="32918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Controlled schema conversion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8193024" y="3840480"/>
            <a:ext cx="310896" cy="3108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8261604" y="3936492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" b="1" dirty="0">
                <a:solidFill>
                  <a:srgbClr val="FFFFFF"/>
                </a:solidFill>
              </a:rPr>
              <a:t>04</a:t>
            </a:r>
            <a:endParaRPr lang="en-US" sz="490" dirty="0"/>
          </a:p>
        </p:txBody>
      </p:sp>
      <p:sp>
        <p:nvSpPr>
          <p:cNvPr id="29" name="Text 25"/>
          <p:cNvSpPr/>
          <p:nvPr/>
        </p:nvSpPr>
        <p:spPr>
          <a:xfrm>
            <a:off x="8650224" y="386791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Validation and reporting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8183880" y="45537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5E7EB"/>
                </a:solidFill>
              </a:rPr>
              <a:t>Prepared for stakeholder review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621792" y="6364224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2D2D2D"/>
                </a:solidFill>
              </a:rPr>
              <a:t>DXC Internal © 2026 DXC Technology Company. All rights reserved.</a:t>
            </a:r>
            <a:endParaRPr lang="en-US" sz="570" dirty="0"/>
          </a:p>
        </p:txBody>
      </p:sp>
      <p:sp>
        <p:nvSpPr>
          <p:cNvPr id="32" name="Text 28"/>
          <p:cNvSpPr/>
          <p:nvPr/>
        </p:nvSpPr>
        <p:spPr>
          <a:xfrm>
            <a:off x="11631168" y="3108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475467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FLOW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walkthrough for stakeholders and implementation teams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975104"/>
            <a:ext cx="1444752" cy="1444752"/>
          </a:xfrm>
          <a:prstGeom prst="arc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04672" y="1810512"/>
            <a:ext cx="1792224" cy="1792224"/>
          </a:xfrm>
          <a:prstGeom prst="arc">
            <a:avLst/>
          </a:prstGeom>
          <a:noFill/>
          <a:ln w="15240">
            <a:solidFill>
              <a:srgbClr val="F2652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24528" y="1463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1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736592" y="154533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92040" y="1417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Overview &amp; Scope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4224528" y="21214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2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736592" y="2203704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92040" y="2075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Dashboard and Connection Setup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224528" y="27797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3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4736592" y="2862072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92040" y="27340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AI Model Provider Configuration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4224528" y="3438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4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4736592" y="3520440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92040" y="3392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Discovery, Selection &amp; Assessment Logic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224528" y="4096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5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4736592" y="4178808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4050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Schema Conversion and Data Type Mapping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4224528" y="4754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26522"/>
                </a:solidFill>
              </a:rPr>
              <a:t>6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4736592" y="4837176"/>
            <a:ext cx="5413248" cy="0"/>
          </a:xfrm>
          <a:prstGeom prst="line">
            <a:avLst/>
          </a:prstGeom>
          <a:noFill/>
          <a:ln w="8890">
            <a:solidFill>
              <a:srgbClr val="CFC7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92040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01828"/>
                </a:solidFill>
              </a:rPr>
              <a:t>Migration, Validation, Reporting &amp; Next Steps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modernization workflow from Oracle source to Azure SQL target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30352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2648" y="1645920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6384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Business objective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Accelerate Oracle to Azure SQL migration through guided discovery, AI assessment, conversion support, migration execution and validation.</a:t>
            </a:r>
            <a:endParaRPr lang="en-US" sz="560" dirty="0"/>
          </a:p>
        </p:txBody>
      </p:sp>
      <p:sp>
        <p:nvSpPr>
          <p:cNvPr id="15" name="Shape 12"/>
          <p:cNvSpPr/>
          <p:nvPr/>
        </p:nvSpPr>
        <p:spPr>
          <a:xfrm>
            <a:off x="4343400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425696" y="1645920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99432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Tool capability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99432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Supports connection setup, dependency-aware object selection, AI configuration, schema conversion, mapping reports and history views.</a:t>
            </a:r>
            <a:endParaRPr lang="en-US" sz="560" dirty="0"/>
          </a:p>
        </p:txBody>
      </p:sp>
      <p:sp>
        <p:nvSpPr>
          <p:cNvPr id="19" name="Shape 16"/>
          <p:cNvSpPr/>
          <p:nvPr/>
        </p:nvSpPr>
        <p:spPr>
          <a:xfrm>
            <a:off x="8156448" y="1536192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38744" y="1645920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12480" y="167335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828"/>
                </a:solidFill>
              </a:rPr>
              <a:t>Governance value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412480" y="1975104"/>
            <a:ext cx="30449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60" dirty="0">
                <a:solidFill>
                  <a:srgbClr val="0B1220"/>
                </a:solidFill>
              </a:rPr>
              <a:t>Provides audit-friendly logs, status reports, validation output and AI token usage visibility for project governance.</a:t>
            </a:r>
            <a:endParaRPr lang="en-US" sz="560" dirty="0"/>
          </a:p>
        </p:txBody>
      </p:sp>
      <p:sp>
        <p:nvSpPr>
          <p:cNvPr id="23" name="Shape 20"/>
          <p:cNvSpPr/>
          <p:nvPr/>
        </p:nvSpPr>
        <p:spPr>
          <a:xfrm>
            <a:off x="694944" y="2880360"/>
            <a:ext cx="107899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031" y="3035808"/>
            <a:ext cx="4119177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44068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End-to-end workflow: source discovery, AI readiness insights, controlled conversion and report-backed migration sign-off.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View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ARCHITECTURE AND AI INTEGRATION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OpenAI-powered layer connected to the migration orchestration workflow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2376" y="1938528"/>
            <a:ext cx="45720" cy="69494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611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Oracle Source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9611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Database metadata, schema objects, dependencies, PL/SQL and data type inventory</a:t>
            </a:r>
            <a:endParaRPr lang="en-US" sz="530" dirty="0"/>
          </a:p>
        </p:txBody>
      </p:sp>
      <p:sp>
        <p:nvSpPr>
          <p:cNvPr id="15" name="Shape 12"/>
          <p:cNvSpPr/>
          <p:nvPr/>
        </p:nvSpPr>
        <p:spPr>
          <a:xfrm>
            <a:off x="305409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7472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557016" y="1938528"/>
            <a:ext cx="45720" cy="69494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73075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AI Studio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73075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Configuration, discovery, assessment, conversion, migration, validation and reports</a:t>
            </a:r>
            <a:endParaRPr lang="en-US" sz="530" dirty="0"/>
          </a:p>
        </p:txBody>
      </p:sp>
      <p:sp>
        <p:nvSpPr>
          <p:cNvPr id="20" name="Shape 17"/>
          <p:cNvSpPr/>
          <p:nvPr/>
        </p:nvSpPr>
        <p:spPr>
          <a:xfrm>
            <a:off x="588873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0936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91656" y="1938528"/>
            <a:ext cx="45720" cy="694944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6539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AI Model Providers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56539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Azure OpenAI (GPT-4o deployment) accessed via secure enterprise endpoint with API key or Azure AD auth</a:t>
            </a:r>
            <a:endParaRPr lang="en-US" sz="530" dirty="0"/>
          </a:p>
        </p:txBody>
      </p:sp>
      <p:sp>
        <p:nvSpPr>
          <p:cNvPr id="25" name="Shape 22"/>
          <p:cNvSpPr/>
          <p:nvPr/>
        </p:nvSpPr>
        <p:spPr>
          <a:xfrm>
            <a:off x="8723376" y="2139696"/>
            <a:ext cx="384048" cy="329184"/>
          </a:xfrm>
          <a:prstGeom prst="chevron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9144000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9226296" y="1938528"/>
            <a:ext cx="45720" cy="69494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400032" y="19659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Azure SQL Target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400032" y="2267712"/>
            <a:ext cx="190195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30" dirty="0">
                <a:solidFill>
                  <a:srgbClr val="0B1220"/>
                </a:solidFill>
              </a:rPr>
              <a:t>Converted schema, mapped data types and validated migrated data</a:t>
            </a:r>
            <a:endParaRPr lang="en-US" sz="530" dirty="0"/>
          </a:p>
        </p:txBody>
      </p:sp>
      <p:sp>
        <p:nvSpPr>
          <p:cNvPr id="30" name="Shape 27"/>
          <p:cNvSpPr/>
          <p:nvPr/>
        </p:nvSpPr>
        <p:spPr>
          <a:xfrm>
            <a:off x="1901952" y="4160520"/>
            <a:ext cx="8394192" cy="621792"/>
          </a:xfrm>
          <a:prstGeom prst="roundRect">
            <a:avLst>
              <a:gd name="adj" fmla="val 8824"/>
            </a:avLst>
          </a:prstGeom>
          <a:solidFill>
            <a:srgbClr val="FFF8F5"/>
          </a:solidFill>
          <a:ln w="8890">
            <a:solidFill>
              <a:srgbClr val="FBC4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2148840" y="433425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The AI model layer is configurable, so the same migration workflow can use the approved provider available for each project.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2743200" y="534924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B1220"/>
                </a:solidFill>
              </a:rPr>
              <a:t>Connection → Discovery → AI Assessment → Conversion → Mapping → Migration → Validation → Reports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explanation of each migration phase from discovery to reporting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713232" y="1188720"/>
            <a:ext cx="107899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2700" dist="5715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51560" y="1362456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1828"/>
                </a:solidFill>
              </a:rPr>
              <a:t>Lifecycle slide is simplified without screenshots, so the audience can quickly understand the migration journey.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804672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28116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353312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Connect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353312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Configure Oracle source and Azure SQL target details. Validate credentials, host, port and database access.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151376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462272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462272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626864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50308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175504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Discover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5175504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Scan Oracle schema metadata and compare against the Delta Plan (new, changed, unchanged, blocked) before selecting objects.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7973568" y="2560320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8284464" y="2084832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8284464" y="2084832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8449056" y="2340864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572500" y="24597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8997696" y="23134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8997696" y="2615184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Run AI-assisted compatibility, complexity, dependency and datatype assessment before conversion.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9820656" y="3383280"/>
            <a:ext cx="365760" cy="329184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40080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40080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804672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928116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1353312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Convert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1353312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Generate Azure SQL-ready DDL/code and review conversion rules, mappings and exceptions.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4462272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462272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4626864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750308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5175504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Migrate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5175504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Execute schema (idempotent DDL) and data migration using Append, Truncate and Reload, Incremental (SCN watermark) or Upsert modes, with per-table parallelism.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 rot="10800000">
            <a:off x="4151376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8284464" y="3767328"/>
            <a:ext cx="3438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3970" dist="6985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8284464" y="3767328"/>
            <a:ext cx="343814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8449056" y="4023360"/>
            <a:ext cx="420624" cy="42062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8572500" y="41422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8997696" y="3995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Validate &amp; Report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8997696" y="4297680"/>
            <a:ext cx="2523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0B1220"/>
                </a:solidFill>
              </a:rPr>
              <a:t>Validate row counts and checksums, generate reconciliation reports, AI executive summary and prepare handover evidence.</a:t>
            </a:r>
            <a:endParaRPr lang="en-US" sz="760" dirty="0"/>
          </a:p>
        </p:txBody>
      </p:sp>
      <p:sp>
        <p:nvSpPr>
          <p:cNvPr id="53" name="Shape 50"/>
          <p:cNvSpPr/>
          <p:nvPr/>
        </p:nvSpPr>
        <p:spPr>
          <a:xfrm rot="10800000">
            <a:off x="7973568" y="4242816"/>
            <a:ext cx="256032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1051560" y="5541264"/>
            <a:ext cx="10076688" cy="54864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1298448" y="5705856"/>
            <a:ext cx="958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</a:rPr>
              <a:t>Control points: connection validation → assessment review → mapping approval → migration execution → validation sign-off → final report handover.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source and Azure SQL target connection validation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6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42684"/>
            <a:ext cx="5029200" cy="2511928"/>
          </a:xfrm>
          <a:prstGeom prst="rect">
            <a:avLst/>
          </a:prstGeom>
        </p:spPr>
      </p:pic>
      <p:pic>
        <p:nvPicPr>
          <p:cNvPr id="14" name="Image 2" descr="/mnt/data/ppt_work/unzip/ppt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96501"/>
            <a:ext cx="5029200" cy="200429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Validate source and target connectivity before discovery, conversion and migration execution.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 CONFIGURATION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can be loaded using .env or entered manually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7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77" y="1389888"/>
            <a:ext cx="3713581" cy="3017520"/>
          </a:xfrm>
          <a:prstGeom prst="rect">
            <a:avLst/>
          </a:prstGeom>
        </p:spPr>
      </p:pic>
      <p:pic>
        <p:nvPicPr>
          <p:cNvPr id="14" name="Image 2" descr="/mnt/data/ppt_work/unzip/ppt/media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840" y="1389888"/>
            <a:ext cx="3810000" cy="30175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Example shown: Azure OpenAI endpoint, deployment, API version, authentication and signed-in user verification.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SELECTION AND DEPENDENCY HANDLING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required objects with or without dependency expansion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8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36792" y="1234440"/>
            <a:ext cx="5349240" cy="3364992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mnt/data/ppt_work/unzip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80824"/>
            <a:ext cx="5029200" cy="2835647"/>
          </a:xfrm>
          <a:prstGeom prst="rect">
            <a:avLst/>
          </a:prstGeom>
        </p:spPr>
      </p:pic>
      <p:pic>
        <p:nvPicPr>
          <p:cNvPr id="14" name="Image 2" descr="/mnt/data/ppt_work/unzip/ppt/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7387"/>
            <a:ext cx="5029200" cy="278252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7552" y="4901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1D8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1225296" y="50749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1828"/>
                </a:solidFill>
              </a:rPr>
              <a:t>Recommended approach: review the Delta Plan (New / Changed / Unchanged / Blocked) to skip already-migrated, unchanged objects before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ASSESSMENT LOGIC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converts metadata into migration readiness guidance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9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85216" y="1435608"/>
            <a:ext cx="45720" cy="7132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895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Extract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5895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Read Oracle object metadata and dependency information</a:t>
            </a:r>
            <a:endParaRPr lang="en-US" sz="520" dirty="0"/>
          </a:p>
        </p:txBody>
      </p:sp>
      <p:sp>
        <p:nvSpPr>
          <p:cNvPr id="15" name="Shape 12"/>
          <p:cNvSpPr/>
          <p:nvPr/>
        </p:nvSpPr>
        <p:spPr>
          <a:xfrm>
            <a:off x="333756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19856" y="1435608"/>
            <a:ext cx="45720" cy="71323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9359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Classify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59359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Identify compatible, partially compatible and Oracle-specific constructs</a:t>
            </a:r>
            <a:endParaRPr lang="en-US" sz="520" dirty="0"/>
          </a:p>
        </p:txBody>
      </p:sp>
      <p:sp>
        <p:nvSpPr>
          <p:cNvPr id="19" name="Shape 16"/>
          <p:cNvSpPr/>
          <p:nvPr/>
        </p:nvSpPr>
        <p:spPr>
          <a:xfrm>
            <a:off x="617220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254496" y="1435608"/>
            <a:ext cx="45720" cy="71323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42823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Score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42823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Calculate complexity using object types, dependency depth, datatype and PL/SQL usage</a:t>
            </a:r>
            <a:endParaRPr lang="en-US" sz="520" dirty="0"/>
          </a:p>
        </p:txBody>
      </p:sp>
      <p:sp>
        <p:nvSpPr>
          <p:cNvPr id="23" name="Shape 20"/>
          <p:cNvSpPr/>
          <p:nvPr/>
        </p:nvSpPr>
        <p:spPr>
          <a:xfrm>
            <a:off x="9006840" y="1325880"/>
            <a:ext cx="2505456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9089136" y="1435608"/>
            <a:ext cx="45720" cy="71323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262872" y="14630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Recommend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262872" y="1764792"/>
            <a:ext cx="212140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Generate remediation guidance and migration readiness summary</a:t>
            </a:r>
            <a:endParaRPr lang="en-US" sz="520" dirty="0"/>
          </a:p>
        </p:txBody>
      </p:sp>
      <p:pic>
        <p:nvPicPr>
          <p:cNvPr id="27" name="Image 1" descr="/mnt/data/ppt_work/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80" y="2971800"/>
            <a:ext cx="3591160" cy="1920240"/>
          </a:xfrm>
          <a:prstGeom prst="rect">
            <a:avLst/>
          </a:prstGeom>
        </p:spPr>
      </p:pic>
      <p:pic>
        <p:nvPicPr>
          <p:cNvPr id="28" name="Image 2" descr="/mnt/data/ppt_work/unzip/ppt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306023"/>
            <a:ext cx="4434840" cy="125179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17320" y="52852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Assessment output gives the team a readiness view before conversion effort is committed.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CONVERSION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mapping from Oracle schema to Azure SQL schema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10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48816"/>
            <a:ext cx="6181344" cy="3430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Controls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Accept all recommended mappings, save mappings, generate reports, change individual mappings and reset mappings.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Migration value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Makes schema mapping choices visible before DDL conversion and reduces unmanaged manual changes.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Governance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Mapping report provides evidence for DBA, application owner and migration stakeholder review.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MAPPING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global and column-level Oracle-to-Azure SQL data type mappings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11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55105"/>
            <a:ext cx="6181344" cy="28174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Global rules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Standard Oracle datatypes can be reviewed and exported as controlled conversion rules.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Column overrides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Special cases can be adjusted at column level for precision, date and LOB handling.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Traceability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Refresh, export, undo/redo and report generation support review before data movement.</a:t>
            </a:r>
            <a:endParaRPr lang="en-US" sz="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ACTIVITIES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schema migration, data migration and combined migration execution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12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94360" y="1243584"/>
            <a:ext cx="6510528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07017"/>
            <a:ext cx="6181344" cy="291361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52360" y="1389888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34656" y="1499616"/>
            <a:ext cx="45720" cy="64008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708392" y="1527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migration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708392" y="1828800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Idempotent DDL execution: CREATE TABLE statements skip objects that already exist on Azure SQL.</a:t>
            </a:r>
            <a:endParaRPr lang="en-US" sz="520" dirty="0"/>
          </a:p>
        </p:txBody>
      </p:sp>
      <p:sp>
        <p:nvSpPr>
          <p:cNvPr id="17" name="Shape 13"/>
          <p:cNvSpPr/>
          <p:nvPr/>
        </p:nvSpPr>
        <p:spPr>
          <a:xfrm>
            <a:off x="7452360" y="2523744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534656" y="2633472"/>
            <a:ext cx="45720" cy="64008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708392" y="2660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Data migration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708392" y="2962656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Load modes: Append, Truncate and Reload, Incremental (ORA_ROWSCN watermark) and Upsert (stage + MERGE), with partitioned parallel table loads.</a:t>
            </a:r>
            <a:endParaRPr lang="en-US" sz="520" dirty="0"/>
          </a:p>
        </p:txBody>
      </p:sp>
      <p:sp>
        <p:nvSpPr>
          <p:cNvPr id="21" name="Shape 17"/>
          <p:cNvSpPr/>
          <p:nvPr/>
        </p:nvSpPr>
        <p:spPr>
          <a:xfrm>
            <a:off x="7452360" y="3657600"/>
            <a:ext cx="391363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7534656" y="3767328"/>
            <a:ext cx="45720" cy="6400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708392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101828"/>
                </a:solidFill>
              </a:rPr>
              <a:t>Schema &amp; data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708392" y="4096512"/>
            <a:ext cx="352958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0B1220"/>
                </a:solidFill>
              </a:rPr>
              <a:t>Combined run: up to 4 tables migrated concurrently, each tracked with row counts, duplicates skipped and failure samples.</a:t>
            </a:r>
            <a:endParaRPr lang="en-US" sz="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REPORT &amp; HISTORY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quality checks and evidence generation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13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02920" y="1234440"/>
            <a:ext cx="54406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mnt/data/ppt_work/unzip/ppt/media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49755"/>
            <a:ext cx="5074920" cy="236977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7648" y="1243584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/mnt/data/ppt_work/unzip/ppt/media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1362456"/>
            <a:ext cx="2628900" cy="12344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27648" y="2944368"/>
            <a:ext cx="52578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/mnt/data/ppt_work/unzip/ppt/media/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455" y="3063240"/>
            <a:ext cx="2575329" cy="12344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152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813816" y="5001768"/>
            <a:ext cx="45720" cy="43891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98755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Validation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98755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Confirm object counts, status and post-migration quality gates.</a:t>
            </a:r>
            <a:endParaRPr lang="en-US" sz="480" dirty="0"/>
          </a:p>
        </p:txBody>
      </p:sp>
      <p:sp>
        <p:nvSpPr>
          <p:cNvPr id="21" name="Shape 15"/>
          <p:cNvSpPr/>
          <p:nvPr/>
        </p:nvSpPr>
        <p:spPr>
          <a:xfrm>
            <a:off x="443484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517136" y="5001768"/>
            <a:ext cx="45720" cy="43891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469087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Reports &amp; history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469087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Generate evidence packs and track migration execution history.</a:t>
            </a:r>
            <a:endParaRPr lang="en-US" sz="480" dirty="0"/>
          </a:p>
        </p:txBody>
      </p:sp>
      <p:sp>
        <p:nvSpPr>
          <p:cNvPr id="25" name="Shape 19"/>
          <p:cNvSpPr/>
          <p:nvPr/>
        </p:nvSpPr>
        <p:spPr>
          <a:xfrm>
            <a:off x="8138160" y="489204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7620">
            <a:solidFill>
              <a:srgbClr val="D9D1CE"/>
            </a:solidFill>
            <a:prstDash val="solid"/>
          </a:ln>
          <a:effectLst>
            <a:outerShdw blurRad="1524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220456" y="5001768"/>
            <a:ext cx="45720" cy="438912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8394192" y="50292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b="1" dirty="0">
                <a:solidFill>
                  <a:srgbClr val="101828"/>
                </a:solidFill>
              </a:rPr>
              <a:t>Assistant &amp; tokens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8394192" y="5330952"/>
            <a:ext cx="2862072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80" dirty="0">
                <a:solidFill>
                  <a:srgbClr val="0B1220"/>
                </a:solidFill>
              </a:rPr>
              <a:t>Support post-migration questions and monitor AI token utilization.</a:t>
            </a:r>
            <a:endParaRPr lang="en-US" sz="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DELIVERED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confidence, faster assessment and improved governance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14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96012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9786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Accelerated migration assessment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19786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Shorter discovery-to-readiness cycle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96012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9786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Reduced manual conversion analysis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9786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AI-assisted recommendations for technical teams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96012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9786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Azure OpenAI-powered mapping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119786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Consistent GPT-4o-driven schema and datatype recommendations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96012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19786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Traceable logs and reports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119786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Evidence for review and handover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83680" y="152704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21424" y="14173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Stage-based migration controls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6821424" y="167335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Clear checkpoints across the lifecycle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83680" y="253288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21424" y="2423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Validation-focused quality gate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6821424" y="26791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Post-migration checks before sign-off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583680" y="353872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21424" y="3429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Post-migration assistant support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6821424" y="3685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Guidance for follow-up questions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0" y="4544568"/>
            <a:ext cx="54864" cy="5029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821424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Token visibility for AI usage governance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821424" y="46908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Usage transparency for project controls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1920240" y="56235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1828"/>
                </a:solidFill>
              </a:rPr>
              <a:t>Overall impact: faster planning, better technical visibility and stronger migration governance.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8016"/>
            <a:ext cx="658368" cy="109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10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20040" y="4937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PLAN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9184" y="84124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path to finalize the Oracle to Azure SQL AI migration tool package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320040" y="6528816"/>
            <a:ext cx="1152144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95360" y="6620256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20" dirty="0">
                <a:solidFill>
                  <a:srgbClr val="475467"/>
                </a:solidFill>
              </a:rPr>
              <a:t>15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1792" y="126187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8952" y="138988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32688" y="1371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1. Confirm Azure OpenAI configuration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32688" y="160934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Finalize Azure OpenAI endpoint, GPT-4o deployment and enterprise authentication for all environments.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7818120" y="153619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Azure OpenAI configuration checklist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621792" y="213055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58952" y="225856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32688" y="22402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2. Pilot representative schema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932688" y="247802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Test tables, constraints, indexes, views, packages, procedures and functions.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818120" y="240487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pilot assessment results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621792" y="299923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58952" y="312724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32688" y="31089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3. Review assessment output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932688" y="334670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Validate AI classification, complexity score and remediation guidance.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7818120" y="327355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reviewed readiness report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21792" y="386791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58952" y="3995928"/>
            <a:ext cx="54864" cy="402336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32688" y="39776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4. Run controlled migration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32688" y="421538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Execute phased schema and data migration with validation and defect remediation.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7818120" y="414223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migration status and defects log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21792" y="4736592"/>
            <a:ext cx="1091793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AD1CE"/>
            </a:solidFill>
            <a:prstDash val="solid"/>
          </a:ln>
          <a:effectLst>
            <a:outerShdw blurRad="1016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58952" y="4864608"/>
            <a:ext cx="54864" cy="40233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932688" y="4846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01828"/>
                </a:solidFill>
              </a:rPr>
              <a:t>5. Prepare handover pack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932688" y="508406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Share assessment, mapping, migration, validation and token utilization reports.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7818120" y="50109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0A66C2"/>
                </a:solidFill>
              </a:rPr>
              <a:t>Output: final governance evidence pack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work/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676656" cy="1097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0" y="914400"/>
            <a:ext cx="1444752" cy="2944368"/>
          </a:xfrm>
          <a:prstGeom prst="arc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49808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THANK YOU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3383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Oracle to Azure SQL AI Migration Tool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749808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66C2"/>
                </a:solidFill>
              </a:rPr>
              <a:t>Assessment • Conversion • Migration • Validation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49808" y="6327648"/>
            <a:ext cx="1074420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55280" y="651052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6B7280"/>
                </a:solidFill>
              </a:rPr>
              <a:t>DXC Internal © 2026 DXC Technology Company. All rights reserved.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11631168" y="1645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6B7280"/>
                </a:solidFill>
              </a:rPr>
              <a:t>16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c17f1d-f670-4793-aa61-7a6b15327d4d" xsi:nil="true"/>
    <lcf76f155ced4ddcb4097134ff3c332f xmlns="798532a6-f5f3-4f95-9da4-a207ab3a9de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47E6560EBD9F489147EFFA75E17856" ma:contentTypeVersion="9" ma:contentTypeDescription="Create a new document." ma:contentTypeScope="" ma:versionID="229950b5ddc8927890efd04ebfd6e1b0">
  <xsd:schema xmlns:xsd="http://www.w3.org/2001/XMLSchema" xmlns:xs="http://www.w3.org/2001/XMLSchema" xmlns:p="http://schemas.microsoft.com/office/2006/metadata/properties" xmlns:ns2="798532a6-f5f3-4f95-9da4-a207ab3a9de2" xmlns:ns3="dfc17f1d-f670-4793-aa61-7a6b15327d4d" targetNamespace="http://schemas.microsoft.com/office/2006/metadata/properties" ma:root="true" ma:fieldsID="c77cdd25c13d0a16d2438c85fe9b158a" ns2:_="" ns3:_="">
    <xsd:import namespace="798532a6-f5f3-4f95-9da4-a207ab3a9de2"/>
    <xsd:import namespace="dfc17f1d-f670-4793-aa61-7a6b15327d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532a6-f5f3-4f95-9da4-a207ab3a9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7f1d-f670-4793-aa61-7a6b15327d4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f93769-ae19-438b-809a-9f1094063849}" ma:internalName="TaxCatchAll" ma:showField="CatchAllData" ma:web="dfc17f1d-f670-4793-aa61-7a6b15327d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1E12A6-5A4F-4992-A205-D481A54B61AD}">
  <ds:schemaRefs>
    <ds:schemaRef ds:uri="http://schemas.microsoft.com/office/2006/metadata/properties"/>
    <ds:schemaRef ds:uri="http://schemas.microsoft.com/office/infopath/2007/PartnerControls"/>
    <ds:schemaRef ds:uri="dfc17f1d-f670-4793-aa61-7a6b15327d4d"/>
    <ds:schemaRef ds:uri="798532a6-f5f3-4f95-9da4-a207ab3a9de2"/>
  </ds:schemaRefs>
</ds:datastoreItem>
</file>

<file path=customXml/itemProps2.xml><?xml version="1.0" encoding="utf-8"?>
<ds:datastoreItem xmlns:ds="http://schemas.openxmlformats.org/officeDocument/2006/customXml" ds:itemID="{489FC808-E68D-42EF-868F-11095CB09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F0B549-30E3-4FEB-B0A9-C79DF941D0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8532a6-f5f3-4f95-9da4-a207ab3a9de2"/>
    <ds:schemaRef ds:uri="dfc17f1d-f670-4793-aa61-7a6b15327d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1570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DXC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to PostgreSQL AI Migration Tool</dc:title>
  <dc:subject>Oracle to PostgreSQL AI Migration Tool</dc:subject>
  <dc:creator>A L, GIRISH</dc:creator>
  <cp:lastModifiedBy>A L, GIRISH</cp:lastModifiedBy>
  <cp:revision>3</cp:revision>
  <dcterms:created xsi:type="dcterms:W3CDTF">2026-08-05T07:56:51Z</dcterms:created>
  <dcterms:modified xsi:type="dcterms:W3CDTF">2026-08-20T09:46:22Z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2026-08-05T07:56:51Z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21f2980a-c4d2-41a0-8081-f8e056f0e8d3</vt:lpwstr>
  </property>
  <property fmtid="{D5CDD505-2E9C-101B-9397-08002B2CF9AE}" pid="8" name="MSIP_Label_15394ae5-69af-439d-af88-cb521c31c0c5_ContentBits">
    <vt:lpwstr>0</vt:lpwstr>
  </property>
  <property fmtid="{D5CDD505-2E9C-101B-9397-08002B2CF9AE}" pid="9" name="ContentTypeId">
    <vt:lpwstr>0x0101005E47E6560EBD9F489147EFFA75E17856</vt:lpwstr>
  </property>
</Properties>
</file>